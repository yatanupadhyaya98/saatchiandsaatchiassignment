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4" r:id="rId3"/>
    <p:sldId id="261" r:id="rId4"/>
    <p:sldId id="257" r:id="rId5"/>
    <p:sldId id="273" r:id="rId6"/>
    <p:sldId id="259" r:id="rId7"/>
    <p:sldId id="258" r:id="rId8"/>
    <p:sldId id="260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4" r:id="rId21"/>
    <p:sldId id="277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3DF262-9E92-5C4E-9B53-B2EFCE1BFBEF}" v="146" dt="2026-02-05T06:56:33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7"/>
  </p:normalViewPr>
  <p:slideViewPr>
    <p:cSldViewPr snapToGrid="0">
      <p:cViewPr varScale="1">
        <p:scale>
          <a:sx n="108" d="100"/>
          <a:sy n="108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BD07EA-2A3E-49A5-AB8A-842182AE247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602C85-F31D-49F4-9F3A-F51862146A15}">
      <dgm:prSet custT="1"/>
      <dgm:spPr/>
      <dgm:t>
        <a:bodyPr/>
        <a:lstStyle/>
        <a:p>
          <a:r>
            <a:rPr lang="en-IN" sz="1800" b="1"/>
            <a:t>Research Tools</a:t>
          </a:r>
          <a:endParaRPr lang="en-US" sz="1800"/>
        </a:p>
      </dgm:t>
    </dgm:pt>
    <dgm:pt modelId="{587C0A02-8F91-41E4-B5EF-F456DD660C96}" type="parTrans" cxnId="{9E03D6BA-93E7-44C2-89DB-7A23F59790AD}">
      <dgm:prSet/>
      <dgm:spPr/>
      <dgm:t>
        <a:bodyPr/>
        <a:lstStyle/>
        <a:p>
          <a:endParaRPr lang="en-US" sz="1400"/>
        </a:p>
      </dgm:t>
    </dgm:pt>
    <dgm:pt modelId="{98D3DC84-2F3C-43FB-ABF3-5DBEB14F2527}" type="sibTrans" cxnId="{9E03D6BA-93E7-44C2-89DB-7A23F59790AD}">
      <dgm:prSet/>
      <dgm:spPr/>
      <dgm:t>
        <a:bodyPr/>
        <a:lstStyle/>
        <a:p>
          <a:endParaRPr lang="en-US" sz="1400"/>
        </a:p>
      </dgm:t>
    </dgm:pt>
    <dgm:pt modelId="{702698E7-6FE6-43CE-8D06-9A4A43F88734}">
      <dgm:prSet custT="1"/>
      <dgm:spPr/>
      <dgm:t>
        <a:bodyPr/>
        <a:lstStyle/>
        <a:p>
          <a:r>
            <a:rPr lang="en-IN" sz="1800" dirty="0"/>
            <a:t>Perplexity</a:t>
          </a:r>
          <a:endParaRPr lang="en-US" sz="1800" dirty="0"/>
        </a:p>
      </dgm:t>
    </dgm:pt>
    <dgm:pt modelId="{8C9E57A2-3828-40E9-B138-8C214BED0AC3}" type="parTrans" cxnId="{4B3A3C5D-065B-4514-8515-FAFF256F3F89}">
      <dgm:prSet/>
      <dgm:spPr/>
      <dgm:t>
        <a:bodyPr/>
        <a:lstStyle/>
        <a:p>
          <a:endParaRPr lang="en-US" sz="1400"/>
        </a:p>
      </dgm:t>
    </dgm:pt>
    <dgm:pt modelId="{EDBED12D-25FB-4BE7-9E08-7982D04726E2}" type="sibTrans" cxnId="{4B3A3C5D-065B-4514-8515-FAFF256F3F89}">
      <dgm:prSet/>
      <dgm:spPr/>
      <dgm:t>
        <a:bodyPr/>
        <a:lstStyle/>
        <a:p>
          <a:endParaRPr lang="en-US" sz="1400"/>
        </a:p>
      </dgm:t>
    </dgm:pt>
    <dgm:pt modelId="{6F5E1F68-E160-4DD4-9516-EED973056CCF}">
      <dgm:prSet custT="1"/>
      <dgm:spPr/>
      <dgm:t>
        <a:bodyPr/>
        <a:lstStyle/>
        <a:p>
          <a:r>
            <a:rPr lang="en-IN" sz="1800"/>
            <a:t>News articles &amp; industry reports</a:t>
          </a:r>
          <a:endParaRPr lang="en-US" sz="1800"/>
        </a:p>
      </dgm:t>
    </dgm:pt>
    <dgm:pt modelId="{029A05AF-230B-4CE5-977F-65A1CBEFDA9B}" type="parTrans" cxnId="{D1E20FBA-922A-4BF2-BD9A-C1CE9EF782BC}">
      <dgm:prSet/>
      <dgm:spPr/>
      <dgm:t>
        <a:bodyPr/>
        <a:lstStyle/>
        <a:p>
          <a:endParaRPr lang="en-US" sz="1400"/>
        </a:p>
      </dgm:t>
    </dgm:pt>
    <dgm:pt modelId="{8F8B12A2-1988-41E3-A4C8-664E752B44D2}" type="sibTrans" cxnId="{D1E20FBA-922A-4BF2-BD9A-C1CE9EF782BC}">
      <dgm:prSet/>
      <dgm:spPr/>
      <dgm:t>
        <a:bodyPr/>
        <a:lstStyle/>
        <a:p>
          <a:endParaRPr lang="en-US" sz="1400"/>
        </a:p>
      </dgm:t>
    </dgm:pt>
    <dgm:pt modelId="{3AFC51C4-E3F7-4D62-A589-87847F89E7FE}">
      <dgm:prSet custT="1"/>
      <dgm:spPr/>
      <dgm:t>
        <a:bodyPr/>
        <a:lstStyle/>
        <a:p>
          <a:r>
            <a:rPr lang="en-IN" sz="1800"/>
            <a:t>Google Trends</a:t>
          </a:r>
          <a:endParaRPr lang="en-US" sz="1800"/>
        </a:p>
      </dgm:t>
    </dgm:pt>
    <dgm:pt modelId="{6BC644AE-6A5D-45C7-82DD-5C971D5461B9}" type="parTrans" cxnId="{864D4E3E-1938-4C4D-A320-BF71C774308D}">
      <dgm:prSet/>
      <dgm:spPr/>
      <dgm:t>
        <a:bodyPr/>
        <a:lstStyle/>
        <a:p>
          <a:endParaRPr lang="en-US" sz="1400"/>
        </a:p>
      </dgm:t>
    </dgm:pt>
    <dgm:pt modelId="{FEF579EF-21DB-439C-8E55-4E1508CE0D76}" type="sibTrans" cxnId="{864D4E3E-1938-4C4D-A320-BF71C774308D}">
      <dgm:prSet/>
      <dgm:spPr/>
      <dgm:t>
        <a:bodyPr/>
        <a:lstStyle/>
        <a:p>
          <a:endParaRPr lang="en-US" sz="1400"/>
        </a:p>
      </dgm:t>
    </dgm:pt>
    <dgm:pt modelId="{0E412F82-DEDE-49D4-AC43-CDB6E5DD49E8}">
      <dgm:prSet custT="1"/>
      <dgm:spPr/>
      <dgm:t>
        <a:bodyPr/>
        <a:lstStyle/>
        <a:p>
          <a:r>
            <a:rPr lang="en-IN" sz="1800" dirty="0"/>
            <a:t>Simulated social listening data pipeline</a:t>
          </a:r>
          <a:endParaRPr lang="en-US" sz="1800" dirty="0"/>
        </a:p>
      </dgm:t>
    </dgm:pt>
    <dgm:pt modelId="{BF298D0A-F2CC-4306-992C-980AFB9EF73C}" type="parTrans" cxnId="{609C65FF-0457-4E5B-8F50-BDA0ACCB045E}">
      <dgm:prSet/>
      <dgm:spPr/>
      <dgm:t>
        <a:bodyPr/>
        <a:lstStyle/>
        <a:p>
          <a:endParaRPr lang="en-US" sz="1400"/>
        </a:p>
      </dgm:t>
    </dgm:pt>
    <dgm:pt modelId="{61D62030-0174-437F-933B-B954593DD050}" type="sibTrans" cxnId="{609C65FF-0457-4E5B-8F50-BDA0ACCB045E}">
      <dgm:prSet/>
      <dgm:spPr/>
      <dgm:t>
        <a:bodyPr/>
        <a:lstStyle/>
        <a:p>
          <a:endParaRPr lang="en-US" sz="1400"/>
        </a:p>
      </dgm:t>
    </dgm:pt>
    <dgm:pt modelId="{E70F3F31-5892-8241-8F62-3A9177807B34}" type="pres">
      <dgm:prSet presAssocID="{2ABD07EA-2A3E-49A5-AB8A-842182AE247A}" presName="vert0" presStyleCnt="0">
        <dgm:presLayoutVars>
          <dgm:dir/>
          <dgm:animOne val="branch"/>
          <dgm:animLvl val="lvl"/>
        </dgm:presLayoutVars>
      </dgm:prSet>
      <dgm:spPr/>
    </dgm:pt>
    <dgm:pt modelId="{3067A57F-6E1C-7D47-9180-E493F9A4C415}" type="pres">
      <dgm:prSet presAssocID="{D3602C85-F31D-49F4-9F3A-F51862146A15}" presName="thickLine" presStyleLbl="alignNode1" presStyleIdx="0" presStyleCnt="5"/>
      <dgm:spPr/>
    </dgm:pt>
    <dgm:pt modelId="{6A267545-0D96-8346-A077-A8AB5621EF71}" type="pres">
      <dgm:prSet presAssocID="{D3602C85-F31D-49F4-9F3A-F51862146A15}" presName="horz1" presStyleCnt="0"/>
      <dgm:spPr/>
    </dgm:pt>
    <dgm:pt modelId="{C0309FCA-F89E-A64F-80F8-24ECAB4C3C22}" type="pres">
      <dgm:prSet presAssocID="{D3602C85-F31D-49F4-9F3A-F51862146A15}" presName="tx1" presStyleLbl="revTx" presStyleIdx="0" presStyleCnt="5"/>
      <dgm:spPr/>
    </dgm:pt>
    <dgm:pt modelId="{9BF5E226-B73D-804B-BD7C-0E0A6BB4329A}" type="pres">
      <dgm:prSet presAssocID="{D3602C85-F31D-49F4-9F3A-F51862146A15}" presName="vert1" presStyleCnt="0"/>
      <dgm:spPr/>
    </dgm:pt>
    <dgm:pt modelId="{A5B5157C-112C-2348-ABDD-B9AA2BA5C03A}" type="pres">
      <dgm:prSet presAssocID="{702698E7-6FE6-43CE-8D06-9A4A43F88734}" presName="thickLine" presStyleLbl="alignNode1" presStyleIdx="1" presStyleCnt="5"/>
      <dgm:spPr/>
    </dgm:pt>
    <dgm:pt modelId="{19C32442-D498-3242-BA9B-CBA2CAD144AA}" type="pres">
      <dgm:prSet presAssocID="{702698E7-6FE6-43CE-8D06-9A4A43F88734}" presName="horz1" presStyleCnt="0"/>
      <dgm:spPr/>
    </dgm:pt>
    <dgm:pt modelId="{79AEBC62-CD08-EE44-801D-4DE7DDE5A969}" type="pres">
      <dgm:prSet presAssocID="{702698E7-6FE6-43CE-8D06-9A4A43F88734}" presName="tx1" presStyleLbl="revTx" presStyleIdx="1" presStyleCnt="5"/>
      <dgm:spPr/>
    </dgm:pt>
    <dgm:pt modelId="{365F222E-7B1B-9F4F-851D-597E8C229AD8}" type="pres">
      <dgm:prSet presAssocID="{702698E7-6FE6-43CE-8D06-9A4A43F88734}" presName="vert1" presStyleCnt="0"/>
      <dgm:spPr/>
    </dgm:pt>
    <dgm:pt modelId="{29E21B18-9071-B345-A552-AB22E3E60A95}" type="pres">
      <dgm:prSet presAssocID="{6F5E1F68-E160-4DD4-9516-EED973056CCF}" presName="thickLine" presStyleLbl="alignNode1" presStyleIdx="2" presStyleCnt="5"/>
      <dgm:spPr/>
    </dgm:pt>
    <dgm:pt modelId="{848701FE-1D99-ED44-9BA6-7D3AD1B675BC}" type="pres">
      <dgm:prSet presAssocID="{6F5E1F68-E160-4DD4-9516-EED973056CCF}" presName="horz1" presStyleCnt="0"/>
      <dgm:spPr/>
    </dgm:pt>
    <dgm:pt modelId="{5C5904B6-FC08-3644-9E3D-0DE8C05970FB}" type="pres">
      <dgm:prSet presAssocID="{6F5E1F68-E160-4DD4-9516-EED973056CCF}" presName="tx1" presStyleLbl="revTx" presStyleIdx="2" presStyleCnt="5"/>
      <dgm:spPr/>
    </dgm:pt>
    <dgm:pt modelId="{C24F3905-DB46-A044-814D-C91CB2B3F22B}" type="pres">
      <dgm:prSet presAssocID="{6F5E1F68-E160-4DD4-9516-EED973056CCF}" presName="vert1" presStyleCnt="0"/>
      <dgm:spPr/>
    </dgm:pt>
    <dgm:pt modelId="{2006E4DE-89AA-7C4B-8170-7ECEDBEA11B3}" type="pres">
      <dgm:prSet presAssocID="{3AFC51C4-E3F7-4D62-A589-87847F89E7FE}" presName="thickLine" presStyleLbl="alignNode1" presStyleIdx="3" presStyleCnt="5"/>
      <dgm:spPr/>
    </dgm:pt>
    <dgm:pt modelId="{B2E7ED0C-AFA9-F24B-B098-AD6CCC72892A}" type="pres">
      <dgm:prSet presAssocID="{3AFC51C4-E3F7-4D62-A589-87847F89E7FE}" presName="horz1" presStyleCnt="0"/>
      <dgm:spPr/>
    </dgm:pt>
    <dgm:pt modelId="{B767447D-3E72-1E4F-8578-B707ED6C139A}" type="pres">
      <dgm:prSet presAssocID="{3AFC51C4-E3F7-4D62-A589-87847F89E7FE}" presName="tx1" presStyleLbl="revTx" presStyleIdx="3" presStyleCnt="5"/>
      <dgm:spPr/>
    </dgm:pt>
    <dgm:pt modelId="{F8E55906-7ABA-1546-B3D8-9A639EA54840}" type="pres">
      <dgm:prSet presAssocID="{3AFC51C4-E3F7-4D62-A589-87847F89E7FE}" presName="vert1" presStyleCnt="0"/>
      <dgm:spPr/>
    </dgm:pt>
    <dgm:pt modelId="{103943EA-FA21-674F-9DDF-50C0A9E84B5C}" type="pres">
      <dgm:prSet presAssocID="{0E412F82-DEDE-49D4-AC43-CDB6E5DD49E8}" presName="thickLine" presStyleLbl="alignNode1" presStyleIdx="4" presStyleCnt="5"/>
      <dgm:spPr/>
    </dgm:pt>
    <dgm:pt modelId="{65BC8E06-28DA-1942-8F6C-1C649771B573}" type="pres">
      <dgm:prSet presAssocID="{0E412F82-DEDE-49D4-AC43-CDB6E5DD49E8}" presName="horz1" presStyleCnt="0"/>
      <dgm:spPr/>
    </dgm:pt>
    <dgm:pt modelId="{8CEF64B6-2E86-C14B-8B7F-6D8E67611593}" type="pres">
      <dgm:prSet presAssocID="{0E412F82-DEDE-49D4-AC43-CDB6E5DD49E8}" presName="tx1" presStyleLbl="revTx" presStyleIdx="4" presStyleCnt="5"/>
      <dgm:spPr/>
    </dgm:pt>
    <dgm:pt modelId="{FDC550B4-D159-8C42-8733-AC92C4902590}" type="pres">
      <dgm:prSet presAssocID="{0E412F82-DEDE-49D4-AC43-CDB6E5DD49E8}" presName="vert1" presStyleCnt="0"/>
      <dgm:spPr/>
    </dgm:pt>
  </dgm:ptLst>
  <dgm:cxnLst>
    <dgm:cxn modelId="{A0E3C528-A889-734C-9D76-33706BD7FF25}" type="presOf" srcId="{0E412F82-DEDE-49D4-AC43-CDB6E5DD49E8}" destId="{8CEF64B6-2E86-C14B-8B7F-6D8E67611593}" srcOrd="0" destOrd="0" presId="urn:microsoft.com/office/officeart/2008/layout/LinedList"/>
    <dgm:cxn modelId="{864D4E3E-1938-4C4D-A320-BF71C774308D}" srcId="{2ABD07EA-2A3E-49A5-AB8A-842182AE247A}" destId="{3AFC51C4-E3F7-4D62-A589-87847F89E7FE}" srcOrd="3" destOrd="0" parTransId="{6BC644AE-6A5D-45C7-82DD-5C971D5461B9}" sibTransId="{FEF579EF-21DB-439C-8E55-4E1508CE0D76}"/>
    <dgm:cxn modelId="{DC80A653-BE2A-5C46-92A4-43B64E5D2632}" type="presOf" srcId="{2ABD07EA-2A3E-49A5-AB8A-842182AE247A}" destId="{E70F3F31-5892-8241-8F62-3A9177807B34}" srcOrd="0" destOrd="0" presId="urn:microsoft.com/office/officeart/2008/layout/LinedList"/>
    <dgm:cxn modelId="{4B3A3C5D-065B-4514-8515-FAFF256F3F89}" srcId="{2ABD07EA-2A3E-49A5-AB8A-842182AE247A}" destId="{702698E7-6FE6-43CE-8D06-9A4A43F88734}" srcOrd="1" destOrd="0" parTransId="{8C9E57A2-3828-40E9-B138-8C214BED0AC3}" sibTransId="{EDBED12D-25FB-4BE7-9E08-7982D04726E2}"/>
    <dgm:cxn modelId="{81155274-0C9E-D04D-9330-29670C7A6F3C}" type="presOf" srcId="{3AFC51C4-E3F7-4D62-A589-87847F89E7FE}" destId="{B767447D-3E72-1E4F-8578-B707ED6C139A}" srcOrd="0" destOrd="0" presId="urn:microsoft.com/office/officeart/2008/layout/LinedList"/>
    <dgm:cxn modelId="{03B8FDA2-D92C-6E4A-8368-AAFA8CA2A1AC}" type="presOf" srcId="{D3602C85-F31D-49F4-9F3A-F51862146A15}" destId="{C0309FCA-F89E-A64F-80F8-24ECAB4C3C22}" srcOrd="0" destOrd="0" presId="urn:microsoft.com/office/officeart/2008/layout/LinedList"/>
    <dgm:cxn modelId="{D1E20FBA-922A-4BF2-BD9A-C1CE9EF782BC}" srcId="{2ABD07EA-2A3E-49A5-AB8A-842182AE247A}" destId="{6F5E1F68-E160-4DD4-9516-EED973056CCF}" srcOrd="2" destOrd="0" parTransId="{029A05AF-230B-4CE5-977F-65A1CBEFDA9B}" sibTransId="{8F8B12A2-1988-41E3-A4C8-664E752B44D2}"/>
    <dgm:cxn modelId="{9E03D6BA-93E7-44C2-89DB-7A23F59790AD}" srcId="{2ABD07EA-2A3E-49A5-AB8A-842182AE247A}" destId="{D3602C85-F31D-49F4-9F3A-F51862146A15}" srcOrd="0" destOrd="0" parTransId="{587C0A02-8F91-41E4-B5EF-F456DD660C96}" sibTransId="{98D3DC84-2F3C-43FB-ABF3-5DBEB14F2527}"/>
    <dgm:cxn modelId="{A3E077CE-5CCC-EB44-AE8C-50778B403ECC}" type="presOf" srcId="{702698E7-6FE6-43CE-8D06-9A4A43F88734}" destId="{79AEBC62-CD08-EE44-801D-4DE7DDE5A969}" srcOrd="0" destOrd="0" presId="urn:microsoft.com/office/officeart/2008/layout/LinedList"/>
    <dgm:cxn modelId="{4366C4D7-63AD-0640-875B-3E4EEC00C950}" type="presOf" srcId="{6F5E1F68-E160-4DD4-9516-EED973056CCF}" destId="{5C5904B6-FC08-3644-9E3D-0DE8C05970FB}" srcOrd="0" destOrd="0" presId="urn:microsoft.com/office/officeart/2008/layout/LinedList"/>
    <dgm:cxn modelId="{609C65FF-0457-4E5B-8F50-BDA0ACCB045E}" srcId="{2ABD07EA-2A3E-49A5-AB8A-842182AE247A}" destId="{0E412F82-DEDE-49D4-AC43-CDB6E5DD49E8}" srcOrd="4" destOrd="0" parTransId="{BF298D0A-F2CC-4306-992C-980AFB9EF73C}" sibTransId="{61D62030-0174-437F-933B-B954593DD050}"/>
    <dgm:cxn modelId="{84F80F7B-B2EF-9748-A4B1-6D1F23411E5E}" type="presParOf" srcId="{E70F3F31-5892-8241-8F62-3A9177807B34}" destId="{3067A57F-6E1C-7D47-9180-E493F9A4C415}" srcOrd="0" destOrd="0" presId="urn:microsoft.com/office/officeart/2008/layout/LinedList"/>
    <dgm:cxn modelId="{50A5A165-D307-1D41-A1E0-DD313B0834C8}" type="presParOf" srcId="{E70F3F31-5892-8241-8F62-3A9177807B34}" destId="{6A267545-0D96-8346-A077-A8AB5621EF71}" srcOrd="1" destOrd="0" presId="urn:microsoft.com/office/officeart/2008/layout/LinedList"/>
    <dgm:cxn modelId="{8D9EC828-7287-6345-B23A-C1731FE4CE0E}" type="presParOf" srcId="{6A267545-0D96-8346-A077-A8AB5621EF71}" destId="{C0309FCA-F89E-A64F-80F8-24ECAB4C3C22}" srcOrd="0" destOrd="0" presId="urn:microsoft.com/office/officeart/2008/layout/LinedList"/>
    <dgm:cxn modelId="{5AFC2B40-289F-6840-B309-4B2DC9680A3C}" type="presParOf" srcId="{6A267545-0D96-8346-A077-A8AB5621EF71}" destId="{9BF5E226-B73D-804B-BD7C-0E0A6BB4329A}" srcOrd="1" destOrd="0" presId="urn:microsoft.com/office/officeart/2008/layout/LinedList"/>
    <dgm:cxn modelId="{9FF3FDFC-6EC7-A646-8B61-64F74F9B4315}" type="presParOf" srcId="{E70F3F31-5892-8241-8F62-3A9177807B34}" destId="{A5B5157C-112C-2348-ABDD-B9AA2BA5C03A}" srcOrd="2" destOrd="0" presId="urn:microsoft.com/office/officeart/2008/layout/LinedList"/>
    <dgm:cxn modelId="{E62AAA2F-3FCA-B649-A9EB-0EA26CB6AA08}" type="presParOf" srcId="{E70F3F31-5892-8241-8F62-3A9177807B34}" destId="{19C32442-D498-3242-BA9B-CBA2CAD144AA}" srcOrd="3" destOrd="0" presId="urn:microsoft.com/office/officeart/2008/layout/LinedList"/>
    <dgm:cxn modelId="{B7D2C606-9644-FE46-86AF-30EFAC324EA1}" type="presParOf" srcId="{19C32442-D498-3242-BA9B-CBA2CAD144AA}" destId="{79AEBC62-CD08-EE44-801D-4DE7DDE5A969}" srcOrd="0" destOrd="0" presId="urn:microsoft.com/office/officeart/2008/layout/LinedList"/>
    <dgm:cxn modelId="{164395E6-E78C-5E4D-A28B-094086B26D4D}" type="presParOf" srcId="{19C32442-D498-3242-BA9B-CBA2CAD144AA}" destId="{365F222E-7B1B-9F4F-851D-597E8C229AD8}" srcOrd="1" destOrd="0" presId="urn:microsoft.com/office/officeart/2008/layout/LinedList"/>
    <dgm:cxn modelId="{82F8D151-73FA-6E43-95A9-D3B3D8D4E34E}" type="presParOf" srcId="{E70F3F31-5892-8241-8F62-3A9177807B34}" destId="{29E21B18-9071-B345-A552-AB22E3E60A95}" srcOrd="4" destOrd="0" presId="urn:microsoft.com/office/officeart/2008/layout/LinedList"/>
    <dgm:cxn modelId="{D3556B38-DED0-4C4E-B3E9-ABD39216414D}" type="presParOf" srcId="{E70F3F31-5892-8241-8F62-3A9177807B34}" destId="{848701FE-1D99-ED44-9BA6-7D3AD1B675BC}" srcOrd="5" destOrd="0" presId="urn:microsoft.com/office/officeart/2008/layout/LinedList"/>
    <dgm:cxn modelId="{8C488557-5D82-4B4F-A7DA-8861F39E1E21}" type="presParOf" srcId="{848701FE-1D99-ED44-9BA6-7D3AD1B675BC}" destId="{5C5904B6-FC08-3644-9E3D-0DE8C05970FB}" srcOrd="0" destOrd="0" presId="urn:microsoft.com/office/officeart/2008/layout/LinedList"/>
    <dgm:cxn modelId="{A09EB758-79B6-EB40-9DEE-9E0527BDA2F4}" type="presParOf" srcId="{848701FE-1D99-ED44-9BA6-7D3AD1B675BC}" destId="{C24F3905-DB46-A044-814D-C91CB2B3F22B}" srcOrd="1" destOrd="0" presId="urn:microsoft.com/office/officeart/2008/layout/LinedList"/>
    <dgm:cxn modelId="{99F614BC-2507-124F-BEFF-C0129A74E632}" type="presParOf" srcId="{E70F3F31-5892-8241-8F62-3A9177807B34}" destId="{2006E4DE-89AA-7C4B-8170-7ECEDBEA11B3}" srcOrd="6" destOrd="0" presId="urn:microsoft.com/office/officeart/2008/layout/LinedList"/>
    <dgm:cxn modelId="{AC466D2E-3AD8-784A-979D-94A983786F4E}" type="presParOf" srcId="{E70F3F31-5892-8241-8F62-3A9177807B34}" destId="{B2E7ED0C-AFA9-F24B-B098-AD6CCC72892A}" srcOrd="7" destOrd="0" presId="urn:microsoft.com/office/officeart/2008/layout/LinedList"/>
    <dgm:cxn modelId="{ABF281CA-9477-F942-A38C-30A9244C60BE}" type="presParOf" srcId="{B2E7ED0C-AFA9-F24B-B098-AD6CCC72892A}" destId="{B767447D-3E72-1E4F-8578-B707ED6C139A}" srcOrd="0" destOrd="0" presId="urn:microsoft.com/office/officeart/2008/layout/LinedList"/>
    <dgm:cxn modelId="{5FE1C52D-B215-B64C-9419-01830ABC5CC2}" type="presParOf" srcId="{B2E7ED0C-AFA9-F24B-B098-AD6CCC72892A}" destId="{F8E55906-7ABA-1546-B3D8-9A639EA54840}" srcOrd="1" destOrd="0" presId="urn:microsoft.com/office/officeart/2008/layout/LinedList"/>
    <dgm:cxn modelId="{20ADE0BB-E11F-2947-9EAF-2E86FB2B42E6}" type="presParOf" srcId="{E70F3F31-5892-8241-8F62-3A9177807B34}" destId="{103943EA-FA21-674F-9DDF-50C0A9E84B5C}" srcOrd="8" destOrd="0" presId="urn:microsoft.com/office/officeart/2008/layout/LinedList"/>
    <dgm:cxn modelId="{660C0658-9A5C-214F-ADFA-324F242AB60E}" type="presParOf" srcId="{E70F3F31-5892-8241-8F62-3A9177807B34}" destId="{65BC8E06-28DA-1942-8F6C-1C649771B573}" srcOrd="9" destOrd="0" presId="urn:microsoft.com/office/officeart/2008/layout/LinedList"/>
    <dgm:cxn modelId="{199496C7-9BA4-E448-B028-4B63D70F389A}" type="presParOf" srcId="{65BC8E06-28DA-1942-8F6C-1C649771B573}" destId="{8CEF64B6-2E86-C14B-8B7F-6D8E67611593}" srcOrd="0" destOrd="0" presId="urn:microsoft.com/office/officeart/2008/layout/LinedList"/>
    <dgm:cxn modelId="{BD38C291-5DCC-1842-B671-CCB1A4C37FC3}" type="presParOf" srcId="{65BC8E06-28DA-1942-8F6C-1C649771B573}" destId="{FDC550B4-D159-8C42-8733-AC92C49025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20844A-7798-42B7-93D0-3FC8F40CDC4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8A3133D-F30C-4D81-B3B0-18B8AF504B86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solidFill>
                <a:schemeClr val="tx1"/>
              </a:solidFill>
            </a:rPr>
            <a:t>The category is dominated by price and delivery speed during black </a:t>
          </a:r>
          <a:r>
            <a:rPr lang="en-US" sz="1400" cap="none" dirty="0" err="1">
              <a:solidFill>
                <a:schemeClr val="tx1"/>
              </a:solidFill>
            </a:rPr>
            <a:t>november</a:t>
          </a:r>
          <a:r>
            <a:rPr lang="en-US" sz="1400" cap="none" dirty="0">
              <a:solidFill>
                <a:schemeClr val="tx1"/>
              </a:solidFill>
            </a:rPr>
            <a:t>, with deals and fast availability shaping what consumers expect across retailers.</a:t>
          </a:r>
        </a:p>
      </dgm:t>
    </dgm:pt>
    <dgm:pt modelId="{5E09068E-B07E-43FD-94FC-6420CB5C03A2}" type="parTrans" cxnId="{EFFD0218-119D-40DF-B910-23BFF09391D5}">
      <dgm:prSet/>
      <dgm:spPr/>
      <dgm:t>
        <a:bodyPr/>
        <a:lstStyle/>
        <a:p>
          <a:endParaRPr lang="en-US"/>
        </a:p>
      </dgm:t>
    </dgm:pt>
    <dgm:pt modelId="{EF01A058-981A-41E4-AD21-CC253FE1ED50}" type="sibTrans" cxnId="{EFFD0218-119D-40DF-B910-23BFF09391D5}">
      <dgm:prSet/>
      <dgm:spPr/>
      <dgm:t>
        <a:bodyPr/>
        <a:lstStyle/>
        <a:p>
          <a:endParaRPr lang="en-US"/>
        </a:p>
      </dgm:t>
    </dgm:pt>
    <dgm:pt modelId="{992476E1-D383-40C6-B39C-24A86500EE6E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solidFill>
                <a:schemeClr val="tx1"/>
              </a:solidFill>
            </a:rPr>
            <a:t>Consumer-electronics buyers are research-driven and cautious, valuing reassurance and long-term support alongside competitive pricing.</a:t>
          </a:r>
        </a:p>
      </dgm:t>
    </dgm:pt>
    <dgm:pt modelId="{1EE312E3-0200-4FF4-9B1A-2D7ED0BC1BC2}" type="parTrans" cxnId="{C83CB903-3B1F-4607-955D-004109B06F82}">
      <dgm:prSet/>
      <dgm:spPr/>
      <dgm:t>
        <a:bodyPr/>
        <a:lstStyle/>
        <a:p>
          <a:endParaRPr lang="en-US"/>
        </a:p>
      </dgm:t>
    </dgm:pt>
    <dgm:pt modelId="{FF088AE4-5411-47D5-AAC4-95C72C58B0CE}" type="sibTrans" cxnId="{C83CB903-3B1F-4607-955D-004109B06F82}">
      <dgm:prSet/>
      <dgm:spPr/>
      <dgm:t>
        <a:bodyPr/>
        <a:lstStyle/>
        <a:p>
          <a:endParaRPr lang="en-US"/>
        </a:p>
      </dgm:t>
    </dgm:pt>
    <dgm:pt modelId="{1138C77E-1631-4EBE-B812-6F004BFB1329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solidFill>
                <a:schemeClr val="tx1"/>
              </a:solidFill>
            </a:rPr>
            <a:t>Social listening shows that while discounts drive attention, guidance, service, and after-sales support trigger stronger emotional responses.</a:t>
          </a:r>
        </a:p>
      </dgm:t>
    </dgm:pt>
    <dgm:pt modelId="{D05275C4-9DA0-4149-AC20-B2246B9CFDCD}" type="parTrans" cxnId="{0806A53E-9266-495D-B60B-F6D5BAD7FC4A}">
      <dgm:prSet/>
      <dgm:spPr/>
      <dgm:t>
        <a:bodyPr/>
        <a:lstStyle/>
        <a:p>
          <a:endParaRPr lang="en-US"/>
        </a:p>
      </dgm:t>
    </dgm:pt>
    <dgm:pt modelId="{ED2D1CCE-C059-4CC0-A0CA-E639ABF7E8C6}" type="sibTrans" cxnId="{0806A53E-9266-495D-B60B-F6D5BAD7FC4A}">
      <dgm:prSet/>
      <dgm:spPr/>
      <dgm:t>
        <a:bodyPr/>
        <a:lstStyle/>
        <a:p>
          <a:endParaRPr lang="en-US"/>
        </a:p>
      </dgm:t>
    </dgm:pt>
    <dgm:pt modelId="{64AE84B7-3CDA-46F3-8039-4358C23BD17F}">
      <dgm:prSet custT="1"/>
      <dgm:spPr/>
      <dgm:t>
        <a:bodyPr/>
        <a:lstStyle/>
        <a:p>
          <a:pPr>
            <a:defRPr cap="all"/>
          </a:pPr>
          <a:r>
            <a:rPr lang="en-US" sz="1400" cap="none" dirty="0" err="1">
              <a:solidFill>
                <a:schemeClr val="tx1"/>
              </a:solidFill>
            </a:rPr>
            <a:t>Mediamarkt</a:t>
          </a:r>
          <a:r>
            <a:rPr lang="en-US" sz="1400" cap="none" dirty="0">
              <a:solidFill>
                <a:schemeClr val="tx1"/>
              </a:solidFill>
            </a:rPr>
            <a:t> competes strongly on price, often matching market deals within a narrow range during peak periods, while also offering fast availability and same-day delivery where possible.</a:t>
          </a:r>
        </a:p>
      </dgm:t>
    </dgm:pt>
    <dgm:pt modelId="{B21525A2-DD42-4125-8B45-A53A58A22911}" type="parTrans" cxnId="{B1076DFA-C993-44C9-8D9F-E4739D54A63E}">
      <dgm:prSet/>
      <dgm:spPr/>
      <dgm:t>
        <a:bodyPr/>
        <a:lstStyle/>
        <a:p>
          <a:endParaRPr lang="en-US"/>
        </a:p>
      </dgm:t>
    </dgm:pt>
    <dgm:pt modelId="{173BA38B-17C8-4216-823A-7E61D24E147E}" type="sibTrans" cxnId="{B1076DFA-C993-44C9-8D9F-E4739D54A63E}">
      <dgm:prSet/>
      <dgm:spPr/>
      <dgm:t>
        <a:bodyPr/>
        <a:lstStyle/>
        <a:p>
          <a:endParaRPr lang="en-US"/>
        </a:p>
      </dgm:t>
    </dgm:pt>
    <dgm:pt modelId="{CA3D22F5-7339-497C-8E6C-B152070F8BE5}">
      <dgm:prSet custT="1"/>
      <dgm:spPr/>
      <dgm:t>
        <a:bodyPr/>
        <a:lstStyle/>
        <a:p>
          <a:pPr>
            <a:defRPr cap="all"/>
          </a:pPr>
          <a:r>
            <a:rPr lang="en-US" sz="1400" cap="none" dirty="0">
              <a:solidFill>
                <a:schemeClr val="tx1"/>
              </a:solidFill>
            </a:rPr>
            <a:t>The direction forward is clear: wherever customers buy from </a:t>
          </a:r>
          <a:r>
            <a:rPr lang="en-US" sz="1400" cap="none" dirty="0" err="1">
              <a:solidFill>
                <a:schemeClr val="tx1"/>
              </a:solidFill>
            </a:rPr>
            <a:t>mediamarkt</a:t>
          </a:r>
          <a:r>
            <a:rPr lang="en-US" sz="1400" cap="none" dirty="0">
              <a:solidFill>
                <a:schemeClr val="tx1"/>
              </a:solidFill>
            </a:rPr>
            <a:t>, online or in store, they get competitive deals plus the confidence of support before, during, and after the purchase.</a:t>
          </a:r>
        </a:p>
      </dgm:t>
    </dgm:pt>
    <dgm:pt modelId="{F060A487-852E-4DA4-9C69-483F3A606B77}" type="parTrans" cxnId="{89B05C0C-23F4-4D4C-AAC6-6BC0D2F5A951}">
      <dgm:prSet/>
      <dgm:spPr/>
      <dgm:t>
        <a:bodyPr/>
        <a:lstStyle/>
        <a:p>
          <a:endParaRPr lang="en-US"/>
        </a:p>
      </dgm:t>
    </dgm:pt>
    <dgm:pt modelId="{8FAC8310-245B-4A13-8E73-7B2D6DEE8069}" type="sibTrans" cxnId="{89B05C0C-23F4-4D4C-AAC6-6BC0D2F5A951}">
      <dgm:prSet/>
      <dgm:spPr/>
      <dgm:t>
        <a:bodyPr/>
        <a:lstStyle/>
        <a:p>
          <a:endParaRPr lang="en-US"/>
        </a:p>
      </dgm:t>
    </dgm:pt>
    <dgm:pt modelId="{3DA36BDC-120B-44FA-A8F6-F7642B5D851F}" type="pres">
      <dgm:prSet presAssocID="{BB20844A-7798-42B7-93D0-3FC8F40CDC4A}" presName="root" presStyleCnt="0">
        <dgm:presLayoutVars>
          <dgm:dir/>
          <dgm:resizeHandles val="exact"/>
        </dgm:presLayoutVars>
      </dgm:prSet>
      <dgm:spPr/>
    </dgm:pt>
    <dgm:pt modelId="{BBD303F1-D8F1-4BF2-97C6-68FD2556CEC4}" type="pres">
      <dgm:prSet presAssocID="{A8A3133D-F30C-4D81-B3B0-18B8AF504B86}" presName="compNode" presStyleCnt="0"/>
      <dgm:spPr/>
    </dgm:pt>
    <dgm:pt modelId="{EADF245A-35A9-4CB4-B9F4-74C3A0F38717}" type="pres">
      <dgm:prSet presAssocID="{A8A3133D-F30C-4D81-B3B0-18B8AF504B86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D9AB018-857A-4AA7-9700-DFB152291067}" type="pres">
      <dgm:prSet presAssocID="{A8A3133D-F30C-4D81-B3B0-18B8AF504B8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A054E7AE-F72D-416E-B04E-B115B83ADB8D}" type="pres">
      <dgm:prSet presAssocID="{A8A3133D-F30C-4D81-B3B0-18B8AF504B86}" presName="spaceRect" presStyleCnt="0"/>
      <dgm:spPr/>
    </dgm:pt>
    <dgm:pt modelId="{12FB929C-8BFE-48AF-BAEA-EBF8DD2B3EFD}" type="pres">
      <dgm:prSet presAssocID="{A8A3133D-F30C-4D81-B3B0-18B8AF504B86}" presName="textRect" presStyleLbl="revTx" presStyleIdx="0" presStyleCnt="5">
        <dgm:presLayoutVars>
          <dgm:chMax val="1"/>
          <dgm:chPref val="1"/>
        </dgm:presLayoutVars>
      </dgm:prSet>
      <dgm:spPr/>
    </dgm:pt>
    <dgm:pt modelId="{13011589-C830-4465-8745-349C5664C7CB}" type="pres">
      <dgm:prSet presAssocID="{EF01A058-981A-41E4-AD21-CC253FE1ED50}" presName="sibTrans" presStyleCnt="0"/>
      <dgm:spPr/>
    </dgm:pt>
    <dgm:pt modelId="{C59896C8-7C5C-432A-AF46-4C65A1707747}" type="pres">
      <dgm:prSet presAssocID="{992476E1-D383-40C6-B39C-24A86500EE6E}" presName="compNode" presStyleCnt="0"/>
      <dgm:spPr/>
    </dgm:pt>
    <dgm:pt modelId="{4E8B7E21-0B5D-4449-A7D6-4604CF34EC62}" type="pres">
      <dgm:prSet presAssocID="{992476E1-D383-40C6-B39C-24A86500EE6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03A882F-3E4E-47B6-9FD4-F26EAC504F75}" type="pres">
      <dgm:prSet presAssocID="{992476E1-D383-40C6-B39C-24A86500EE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85E14C70-8CCF-41DE-95F9-8EDCE26FCA87}" type="pres">
      <dgm:prSet presAssocID="{992476E1-D383-40C6-B39C-24A86500EE6E}" presName="spaceRect" presStyleCnt="0"/>
      <dgm:spPr/>
    </dgm:pt>
    <dgm:pt modelId="{2E35C9A5-704D-4489-9EB6-458F10BC82C8}" type="pres">
      <dgm:prSet presAssocID="{992476E1-D383-40C6-B39C-24A86500EE6E}" presName="textRect" presStyleLbl="revTx" presStyleIdx="1" presStyleCnt="5">
        <dgm:presLayoutVars>
          <dgm:chMax val="1"/>
          <dgm:chPref val="1"/>
        </dgm:presLayoutVars>
      </dgm:prSet>
      <dgm:spPr/>
    </dgm:pt>
    <dgm:pt modelId="{D57A7150-927F-469E-87D4-545F6DA8E4D6}" type="pres">
      <dgm:prSet presAssocID="{FF088AE4-5411-47D5-AAC4-95C72C58B0CE}" presName="sibTrans" presStyleCnt="0"/>
      <dgm:spPr/>
    </dgm:pt>
    <dgm:pt modelId="{5EC0AD4F-F605-439C-BBF8-02187BB48FD2}" type="pres">
      <dgm:prSet presAssocID="{1138C77E-1631-4EBE-B812-6F004BFB1329}" presName="compNode" presStyleCnt="0"/>
      <dgm:spPr/>
    </dgm:pt>
    <dgm:pt modelId="{371C428C-AE9F-4022-B534-2117E6E0A186}" type="pres">
      <dgm:prSet presAssocID="{1138C77E-1631-4EBE-B812-6F004BFB1329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EF8C606-87FF-4EB0-8897-8906CAD92AC4}" type="pres">
      <dgm:prSet presAssocID="{1138C77E-1631-4EBE-B812-6F004BFB132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um"/>
        </a:ext>
      </dgm:extLst>
    </dgm:pt>
    <dgm:pt modelId="{56E800FA-14A1-42F3-912F-D3C3A90C1722}" type="pres">
      <dgm:prSet presAssocID="{1138C77E-1631-4EBE-B812-6F004BFB1329}" presName="spaceRect" presStyleCnt="0"/>
      <dgm:spPr/>
    </dgm:pt>
    <dgm:pt modelId="{2C16DE5F-D6A0-4BAF-89AA-E19A707A1C52}" type="pres">
      <dgm:prSet presAssocID="{1138C77E-1631-4EBE-B812-6F004BFB1329}" presName="textRect" presStyleLbl="revTx" presStyleIdx="2" presStyleCnt="5">
        <dgm:presLayoutVars>
          <dgm:chMax val="1"/>
          <dgm:chPref val="1"/>
        </dgm:presLayoutVars>
      </dgm:prSet>
      <dgm:spPr/>
    </dgm:pt>
    <dgm:pt modelId="{005DA9F2-683E-4F8F-9C35-F243C98FE19B}" type="pres">
      <dgm:prSet presAssocID="{ED2D1CCE-C059-4CC0-A0CA-E639ABF7E8C6}" presName="sibTrans" presStyleCnt="0"/>
      <dgm:spPr/>
    </dgm:pt>
    <dgm:pt modelId="{CE96C037-04AC-453C-8C1C-37A421638D42}" type="pres">
      <dgm:prSet presAssocID="{64AE84B7-3CDA-46F3-8039-4358C23BD17F}" presName="compNode" presStyleCnt="0"/>
      <dgm:spPr/>
    </dgm:pt>
    <dgm:pt modelId="{3EB313E1-60AE-441C-AC4E-277DC44AD788}" type="pres">
      <dgm:prSet presAssocID="{64AE84B7-3CDA-46F3-8039-4358C23BD17F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8739EDC-89DF-4F17-9130-4CDD451169B1}" type="pres">
      <dgm:prSet presAssocID="{64AE84B7-3CDA-46F3-8039-4358C23BD17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A5D7E8DC-6997-4727-887B-5C0BD860C472}" type="pres">
      <dgm:prSet presAssocID="{64AE84B7-3CDA-46F3-8039-4358C23BD17F}" presName="spaceRect" presStyleCnt="0"/>
      <dgm:spPr/>
    </dgm:pt>
    <dgm:pt modelId="{E8E86F8A-6306-4C24-BDDF-65BE040AFDD8}" type="pres">
      <dgm:prSet presAssocID="{64AE84B7-3CDA-46F3-8039-4358C23BD17F}" presName="textRect" presStyleLbl="revTx" presStyleIdx="3" presStyleCnt="5">
        <dgm:presLayoutVars>
          <dgm:chMax val="1"/>
          <dgm:chPref val="1"/>
        </dgm:presLayoutVars>
      </dgm:prSet>
      <dgm:spPr/>
    </dgm:pt>
    <dgm:pt modelId="{5919FDC7-BDAE-4F9E-8725-AACD48B1D45B}" type="pres">
      <dgm:prSet presAssocID="{173BA38B-17C8-4216-823A-7E61D24E147E}" presName="sibTrans" presStyleCnt="0"/>
      <dgm:spPr/>
    </dgm:pt>
    <dgm:pt modelId="{0BB01E83-9584-436E-BC64-ED6E73C69896}" type="pres">
      <dgm:prSet presAssocID="{CA3D22F5-7339-497C-8E6C-B152070F8BE5}" presName="compNode" presStyleCnt="0"/>
      <dgm:spPr/>
    </dgm:pt>
    <dgm:pt modelId="{C28D4D5A-D83E-4E32-B941-D18291315CE4}" type="pres">
      <dgm:prSet presAssocID="{CA3D22F5-7339-497C-8E6C-B152070F8BE5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385CFA0-403D-475C-B68F-6C9A83DEEC7B}" type="pres">
      <dgm:prSet presAssocID="{CA3D22F5-7339-497C-8E6C-B152070F8B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6104B40F-2123-43A8-9D9F-C602A637C4C9}" type="pres">
      <dgm:prSet presAssocID="{CA3D22F5-7339-497C-8E6C-B152070F8BE5}" presName="spaceRect" presStyleCnt="0"/>
      <dgm:spPr/>
    </dgm:pt>
    <dgm:pt modelId="{70BA879D-25C5-4F69-B429-CDEAE6C40512}" type="pres">
      <dgm:prSet presAssocID="{CA3D22F5-7339-497C-8E6C-B152070F8BE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83CB903-3B1F-4607-955D-004109B06F82}" srcId="{BB20844A-7798-42B7-93D0-3FC8F40CDC4A}" destId="{992476E1-D383-40C6-B39C-24A86500EE6E}" srcOrd="1" destOrd="0" parTransId="{1EE312E3-0200-4FF4-9B1A-2D7ED0BC1BC2}" sibTransId="{FF088AE4-5411-47D5-AAC4-95C72C58B0CE}"/>
    <dgm:cxn modelId="{89B05C0C-23F4-4D4C-AAC6-6BC0D2F5A951}" srcId="{BB20844A-7798-42B7-93D0-3FC8F40CDC4A}" destId="{CA3D22F5-7339-497C-8E6C-B152070F8BE5}" srcOrd="4" destOrd="0" parTransId="{F060A487-852E-4DA4-9C69-483F3A606B77}" sibTransId="{8FAC8310-245B-4A13-8E73-7B2D6DEE8069}"/>
    <dgm:cxn modelId="{EFFD0218-119D-40DF-B910-23BFF09391D5}" srcId="{BB20844A-7798-42B7-93D0-3FC8F40CDC4A}" destId="{A8A3133D-F30C-4D81-B3B0-18B8AF504B86}" srcOrd="0" destOrd="0" parTransId="{5E09068E-B07E-43FD-94FC-6420CB5C03A2}" sibTransId="{EF01A058-981A-41E4-AD21-CC253FE1ED50}"/>
    <dgm:cxn modelId="{0806A53E-9266-495D-B60B-F6D5BAD7FC4A}" srcId="{BB20844A-7798-42B7-93D0-3FC8F40CDC4A}" destId="{1138C77E-1631-4EBE-B812-6F004BFB1329}" srcOrd="2" destOrd="0" parTransId="{D05275C4-9DA0-4149-AC20-B2246B9CFDCD}" sibTransId="{ED2D1CCE-C059-4CC0-A0CA-E639ABF7E8C6}"/>
    <dgm:cxn modelId="{F84EDB5C-B176-4BF1-9CA4-9C86A2EEEF62}" type="presOf" srcId="{1138C77E-1631-4EBE-B812-6F004BFB1329}" destId="{2C16DE5F-D6A0-4BAF-89AA-E19A707A1C52}" srcOrd="0" destOrd="0" presId="urn:microsoft.com/office/officeart/2018/5/layout/IconLeafLabelList"/>
    <dgm:cxn modelId="{6ED82E6C-25A4-4AB2-A52C-7C1459AD17CA}" type="presOf" srcId="{CA3D22F5-7339-497C-8E6C-B152070F8BE5}" destId="{70BA879D-25C5-4F69-B429-CDEAE6C40512}" srcOrd="0" destOrd="0" presId="urn:microsoft.com/office/officeart/2018/5/layout/IconLeafLabelList"/>
    <dgm:cxn modelId="{B138E9B1-46BF-4E00-A10B-C0E9D7696923}" type="presOf" srcId="{992476E1-D383-40C6-B39C-24A86500EE6E}" destId="{2E35C9A5-704D-4489-9EB6-458F10BC82C8}" srcOrd="0" destOrd="0" presId="urn:microsoft.com/office/officeart/2018/5/layout/IconLeafLabelList"/>
    <dgm:cxn modelId="{E8B885B9-94CC-4531-936D-2A8124D494E3}" type="presOf" srcId="{64AE84B7-3CDA-46F3-8039-4358C23BD17F}" destId="{E8E86F8A-6306-4C24-BDDF-65BE040AFDD8}" srcOrd="0" destOrd="0" presId="urn:microsoft.com/office/officeart/2018/5/layout/IconLeafLabelList"/>
    <dgm:cxn modelId="{FA4FF3C4-F4A9-4607-96C2-FE1DC1C65C20}" type="presOf" srcId="{BB20844A-7798-42B7-93D0-3FC8F40CDC4A}" destId="{3DA36BDC-120B-44FA-A8F6-F7642B5D851F}" srcOrd="0" destOrd="0" presId="urn:microsoft.com/office/officeart/2018/5/layout/IconLeafLabelList"/>
    <dgm:cxn modelId="{227DB0DE-F955-4815-8ABC-FC1FAB7EE2E6}" type="presOf" srcId="{A8A3133D-F30C-4D81-B3B0-18B8AF504B86}" destId="{12FB929C-8BFE-48AF-BAEA-EBF8DD2B3EFD}" srcOrd="0" destOrd="0" presId="urn:microsoft.com/office/officeart/2018/5/layout/IconLeafLabelList"/>
    <dgm:cxn modelId="{B1076DFA-C993-44C9-8D9F-E4739D54A63E}" srcId="{BB20844A-7798-42B7-93D0-3FC8F40CDC4A}" destId="{64AE84B7-3CDA-46F3-8039-4358C23BD17F}" srcOrd="3" destOrd="0" parTransId="{B21525A2-DD42-4125-8B45-A53A58A22911}" sibTransId="{173BA38B-17C8-4216-823A-7E61D24E147E}"/>
    <dgm:cxn modelId="{2F67D362-5B77-42EE-93E6-21127F2DFFBD}" type="presParOf" srcId="{3DA36BDC-120B-44FA-A8F6-F7642B5D851F}" destId="{BBD303F1-D8F1-4BF2-97C6-68FD2556CEC4}" srcOrd="0" destOrd="0" presId="urn:microsoft.com/office/officeart/2018/5/layout/IconLeafLabelList"/>
    <dgm:cxn modelId="{856A05ED-F38F-47E9-A890-538DF6283875}" type="presParOf" srcId="{BBD303F1-D8F1-4BF2-97C6-68FD2556CEC4}" destId="{EADF245A-35A9-4CB4-B9F4-74C3A0F38717}" srcOrd="0" destOrd="0" presId="urn:microsoft.com/office/officeart/2018/5/layout/IconLeafLabelList"/>
    <dgm:cxn modelId="{149C026C-D266-4919-8064-2DD67EA95321}" type="presParOf" srcId="{BBD303F1-D8F1-4BF2-97C6-68FD2556CEC4}" destId="{3D9AB018-857A-4AA7-9700-DFB152291067}" srcOrd="1" destOrd="0" presId="urn:microsoft.com/office/officeart/2018/5/layout/IconLeafLabelList"/>
    <dgm:cxn modelId="{265BCF64-3A28-41E2-9F2D-290478BA2493}" type="presParOf" srcId="{BBD303F1-D8F1-4BF2-97C6-68FD2556CEC4}" destId="{A054E7AE-F72D-416E-B04E-B115B83ADB8D}" srcOrd="2" destOrd="0" presId="urn:microsoft.com/office/officeart/2018/5/layout/IconLeafLabelList"/>
    <dgm:cxn modelId="{B5002642-AA3D-4745-AD27-BA8A8FEE6861}" type="presParOf" srcId="{BBD303F1-D8F1-4BF2-97C6-68FD2556CEC4}" destId="{12FB929C-8BFE-48AF-BAEA-EBF8DD2B3EFD}" srcOrd="3" destOrd="0" presId="urn:microsoft.com/office/officeart/2018/5/layout/IconLeafLabelList"/>
    <dgm:cxn modelId="{0130D90E-6CFC-49E6-8829-27148D94AB34}" type="presParOf" srcId="{3DA36BDC-120B-44FA-A8F6-F7642B5D851F}" destId="{13011589-C830-4465-8745-349C5664C7CB}" srcOrd="1" destOrd="0" presId="urn:microsoft.com/office/officeart/2018/5/layout/IconLeafLabelList"/>
    <dgm:cxn modelId="{6D42F187-E879-406A-AC05-5DE99A8BAD0E}" type="presParOf" srcId="{3DA36BDC-120B-44FA-A8F6-F7642B5D851F}" destId="{C59896C8-7C5C-432A-AF46-4C65A1707747}" srcOrd="2" destOrd="0" presId="urn:microsoft.com/office/officeart/2018/5/layout/IconLeafLabelList"/>
    <dgm:cxn modelId="{90F21BB0-3F57-4FC5-BE83-4119DBFB7DB7}" type="presParOf" srcId="{C59896C8-7C5C-432A-AF46-4C65A1707747}" destId="{4E8B7E21-0B5D-4449-A7D6-4604CF34EC62}" srcOrd="0" destOrd="0" presId="urn:microsoft.com/office/officeart/2018/5/layout/IconLeafLabelList"/>
    <dgm:cxn modelId="{4F803F6B-1691-45FB-9132-A8EA5D334859}" type="presParOf" srcId="{C59896C8-7C5C-432A-AF46-4C65A1707747}" destId="{F03A882F-3E4E-47B6-9FD4-F26EAC504F75}" srcOrd="1" destOrd="0" presId="urn:microsoft.com/office/officeart/2018/5/layout/IconLeafLabelList"/>
    <dgm:cxn modelId="{7A85B805-1228-4E70-89E3-C3703A2B33D4}" type="presParOf" srcId="{C59896C8-7C5C-432A-AF46-4C65A1707747}" destId="{85E14C70-8CCF-41DE-95F9-8EDCE26FCA87}" srcOrd="2" destOrd="0" presId="urn:microsoft.com/office/officeart/2018/5/layout/IconLeafLabelList"/>
    <dgm:cxn modelId="{EB533D01-26B4-445F-9FEB-41D78E061ED5}" type="presParOf" srcId="{C59896C8-7C5C-432A-AF46-4C65A1707747}" destId="{2E35C9A5-704D-4489-9EB6-458F10BC82C8}" srcOrd="3" destOrd="0" presId="urn:microsoft.com/office/officeart/2018/5/layout/IconLeafLabelList"/>
    <dgm:cxn modelId="{31C474A5-3FDC-4756-8AE7-0BCAA9582017}" type="presParOf" srcId="{3DA36BDC-120B-44FA-A8F6-F7642B5D851F}" destId="{D57A7150-927F-469E-87D4-545F6DA8E4D6}" srcOrd="3" destOrd="0" presId="urn:microsoft.com/office/officeart/2018/5/layout/IconLeafLabelList"/>
    <dgm:cxn modelId="{C4A42EFC-8738-4A1E-91A6-44AD74CD69E0}" type="presParOf" srcId="{3DA36BDC-120B-44FA-A8F6-F7642B5D851F}" destId="{5EC0AD4F-F605-439C-BBF8-02187BB48FD2}" srcOrd="4" destOrd="0" presId="urn:microsoft.com/office/officeart/2018/5/layout/IconLeafLabelList"/>
    <dgm:cxn modelId="{6E81A760-1B9D-423B-A3EE-F32B5DCCD97D}" type="presParOf" srcId="{5EC0AD4F-F605-439C-BBF8-02187BB48FD2}" destId="{371C428C-AE9F-4022-B534-2117E6E0A186}" srcOrd="0" destOrd="0" presId="urn:microsoft.com/office/officeart/2018/5/layout/IconLeafLabelList"/>
    <dgm:cxn modelId="{C2563026-2E5A-4CB2-A2E6-83D436F919A0}" type="presParOf" srcId="{5EC0AD4F-F605-439C-BBF8-02187BB48FD2}" destId="{DEF8C606-87FF-4EB0-8897-8906CAD92AC4}" srcOrd="1" destOrd="0" presId="urn:microsoft.com/office/officeart/2018/5/layout/IconLeafLabelList"/>
    <dgm:cxn modelId="{1DB1E5E1-5603-470B-AEF5-15AD00BC8AA6}" type="presParOf" srcId="{5EC0AD4F-F605-439C-BBF8-02187BB48FD2}" destId="{56E800FA-14A1-42F3-912F-D3C3A90C1722}" srcOrd="2" destOrd="0" presId="urn:microsoft.com/office/officeart/2018/5/layout/IconLeafLabelList"/>
    <dgm:cxn modelId="{AEA87CC9-3421-450C-85C4-062530AFC8FE}" type="presParOf" srcId="{5EC0AD4F-F605-439C-BBF8-02187BB48FD2}" destId="{2C16DE5F-D6A0-4BAF-89AA-E19A707A1C52}" srcOrd="3" destOrd="0" presId="urn:microsoft.com/office/officeart/2018/5/layout/IconLeafLabelList"/>
    <dgm:cxn modelId="{F532CD14-6005-4918-A115-5BD6E2C0AEDC}" type="presParOf" srcId="{3DA36BDC-120B-44FA-A8F6-F7642B5D851F}" destId="{005DA9F2-683E-4F8F-9C35-F243C98FE19B}" srcOrd="5" destOrd="0" presId="urn:microsoft.com/office/officeart/2018/5/layout/IconLeafLabelList"/>
    <dgm:cxn modelId="{5FD91825-E90C-4411-80CB-812A9851DFF3}" type="presParOf" srcId="{3DA36BDC-120B-44FA-A8F6-F7642B5D851F}" destId="{CE96C037-04AC-453C-8C1C-37A421638D42}" srcOrd="6" destOrd="0" presId="urn:microsoft.com/office/officeart/2018/5/layout/IconLeafLabelList"/>
    <dgm:cxn modelId="{14437842-FEF5-4F81-B9CC-410F2151A384}" type="presParOf" srcId="{CE96C037-04AC-453C-8C1C-37A421638D42}" destId="{3EB313E1-60AE-441C-AC4E-277DC44AD788}" srcOrd="0" destOrd="0" presId="urn:microsoft.com/office/officeart/2018/5/layout/IconLeafLabelList"/>
    <dgm:cxn modelId="{FCE762BD-9960-4631-8AE8-32C7ED85E6B8}" type="presParOf" srcId="{CE96C037-04AC-453C-8C1C-37A421638D42}" destId="{58739EDC-89DF-4F17-9130-4CDD451169B1}" srcOrd="1" destOrd="0" presId="urn:microsoft.com/office/officeart/2018/5/layout/IconLeafLabelList"/>
    <dgm:cxn modelId="{2DFB615E-39E8-4669-B73B-B7FAC9329397}" type="presParOf" srcId="{CE96C037-04AC-453C-8C1C-37A421638D42}" destId="{A5D7E8DC-6997-4727-887B-5C0BD860C472}" srcOrd="2" destOrd="0" presId="urn:microsoft.com/office/officeart/2018/5/layout/IconLeafLabelList"/>
    <dgm:cxn modelId="{2CFAF4D8-4558-4C4B-81D9-DB590AF38996}" type="presParOf" srcId="{CE96C037-04AC-453C-8C1C-37A421638D42}" destId="{E8E86F8A-6306-4C24-BDDF-65BE040AFDD8}" srcOrd="3" destOrd="0" presId="urn:microsoft.com/office/officeart/2018/5/layout/IconLeafLabelList"/>
    <dgm:cxn modelId="{BD8523A4-59BE-4A02-BE0D-701BBBA2DE43}" type="presParOf" srcId="{3DA36BDC-120B-44FA-A8F6-F7642B5D851F}" destId="{5919FDC7-BDAE-4F9E-8725-AACD48B1D45B}" srcOrd="7" destOrd="0" presId="urn:microsoft.com/office/officeart/2018/5/layout/IconLeafLabelList"/>
    <dgm:cxn modelId="{5819D9A4-60CF-45CA-864F-0C1714088585}" type="presParOf" srcId="{3DA36BDC-120B-44FA-A8F6-F7642B5D851F}" destId="{0BB01E83-9584-436E-BC64-ED6E73C69896}" srcOrd="8" destOrd="0" presId="urn:microsoft.com/office/officeart/2018/5/layout/IconLeafLabelList"/>
    <dgm:cxn modelId="{BE72D9A1-3007-4551-8B4E-FF9E72AB04ED}" type="presParOf" srcId="{0BB01E83-9584-436E-BC64-ED6E73C69896}" destId="{C28D4D5A-D83E-4E32-B941-D18291315CE4}" srcOrd="0" destOrd="0" presId="urn:microsoft.com/office/officeart/2018/5/layout/IconLeafLabelList"/>
    <dgm:cxn modelId="{3FEEE373-F11B-4684-8633-8FFF5A17A1D5}" type="presParOf" srcId="{0BB01E83-9584-436E-BC64-ED6E73C69896}" destId="{0385CFA0-403D-475C-B68F-6C9A83DEEC7B}" srcOrd="1" destOrd="0" presId="urn:microsoft.com/office/officeart/2018/5/layout/IconLeafLabelList"/>
    <dgm:cxn modelId="{0AA416D9-40E3-40D2-977E-ED9808204C1E}" type="presParOf" srcId="{0BB01E83-9584-436E-BC64-ED6E73C69896}" destId="{6104B40F-2123-43A8-9D9F-C602A637C4C9}" srcOrd="2" destOrd="0" presId="urn:microsoft.com/office/officeart/2018/5/layout/IconLeafLabelList"/>
    <dgm:cxn modelId="{F2562E18-9699-4A66-B447-BC09BCFC8F0E}" type="presParOf" srcId="{0BB01E83-9584-436E-BC64-ED6E73C69896}" destId="{70BA879D-25C5-4F69-B429-CDEAE6C4051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7A57F-6E1C-7D47-9180-E493F9A4C415}">
      <dsp:nvSpPr>
        <dsp:cNvPr id="0" name=""/>
        <dsp:cNvSpPr/>
      </dsp:nvSpPr>
      <dsp:spPr>
        <a:xfrm>
          <a:off x="0" y="215"/>
          <a:ext cx="95089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09FCA-F89E-A64F-80F8-24ECAB4C3C22}">
      <dsp:nvSpPr>
        <dsp:cNvPr id="0" name=""/>
        <dsp:cNvSpPr/>
      </dsp:nvSpPr>
      <dsp:spPr>
        <a:xfrm>
          <a:off x="0" y="215"/>
          <a:ext cx="9508959" cy="35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Research Tools</a:t>
          </a:r>
          <a:endParaRPr lang="en-US" sz="1800" kern="1200"/>
        </a:p>
      </dsp:txBody>
      <dsp:txXfrm>
        <a:off x="0" y="215"/>
        <a:ext cx="9508959" cy="352713"/>
      </dsp:txXfrm>
    </dsp:sp>
    <dsp:sp modelId="{A5B5157C-112C-2348-ABDD-B9AA2BA5C03A}">
      <dsp:nvSpPr>
        <dsp:cNvPr id="0" name=""/>
        <dsp:cNvSpPr/>
      </dsp:nvSpPr>
      <dsp:spPr>
        <a:xfrm>
          <a:off x="0" y="352929"/>
          <a:ext cx="95089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EBC62-CD08-EE44-801D-4DE7DDE5A969}">
      <dsp:nvSpPr>
        <dsp:cNvPr id="0" name=""/>
        <dsp:cNvSpPr/>
      </dsp:nvSpPr>
      <dsp:spPr>
        <a:xfrm>
          <a:off x="0" y="352929"/>
          <a:ext cx="9508959" cy="35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Perplexity</a:t>
          </a:r>
          <a:endParaRPr lang="en-US" sz="1800" kern="1200" dirty="0"/>
        </a:p>
      </dsp:txBody>
      <dsp:txXfrm>
        <a:off x="0" y="352929"/>
        <a:ext cx="9508959" cy="352713"/>
      </dsp:txXfrm>
    </dsp:sp>
    <dsp:sp modelId="{29E21B18-9071-B345-A552-AB22E3E60A95}">
      <dsp:nvSpPr>
        <dsp:cNvPr id="0" name=""/>
        <dsp:cNvSpPr/>
      </dsp:nvSpPr>
      <dsp:spPr>
        <a:xfrm>
          <a:off x="0" y="705643"/>
          <a:ext cx="95089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904B6-FC08-3644-9E3D-0DE8C05970FB}">
      <dsp:nvSpPr>
        <dsp:cNvPr id="0" name=""/>
        <dsp:cNvSpPr/>
      </dsp:nvSpPr>
      <dsp:spPr>
        <a:xfrm>
          <a:off x="0" y="705643"/>
          <a:ext cx="9508959" cy="35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News articles &amp; industry reports</a:t>
          </a:r>
          <a:endParaRPr lang="en-US" sz="1800" kern="1200"/>
        </a:p>
      </dsp:txBody>
      <dsp:txXfrm>
        <a:off x="0" y="705643"/>
        <a:ext cx="9508959" cy="352713"/>
      </dsp:txXfrm>
    </dsp:sp>
    <dsp:sp modelId="{2006E4DE-89AA-7C4B-8170-7ECEDBEA11B3}">
      <dsp:nvSpPr>
        <dsp:cNvPr id="0" name=""/>
        <dsp:cNvSpPr/>
      </dsp:nvSpPr>
      <dsp:spPr>
        <a:xfrm>
          <a:off x="0" y="1058356"/>
          <a:ext cx="95089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7447D-3E72-1E4F-8578-B707ED6C139A}">
      <dsp:nvSpPr>
        <dsp:cNvPr id="0" name=""/>
        <dsp:cNvSpPr/>
      </dsp:nvSpPr>
      <dsp:spPr>
        <a:xfrm>
          <a:off x="0" y="1058356"/>
          <a:ext cx="9508959" cy="35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Google Trends</a:t>
          </a:r>
          <a:endParaRPr lang="en-US" sz="1800" kern="1200"/>
        </a:p>
      </dsp:txBody>
      <dsp:txXfrm>
        <a:off x="0" y="1058356"/>
        <a:ext cx="9508959" cy="352713"/>
      </dsp:txXfrm>
    </dsp:sp>
    <dsp:sp modelId="{103943EA-FA21-674F-9DDF-50C0A9E84B5C}">
      <dsp:nvSpPr>
        <dsp:cNvPr id="0" name=""/>
        <dsp:cNvSpPr/>
      </dsp:nvSpPr>
      <dsp:spPr>
        <a:xfrm>
          <a:off x="0" y="1411070"/>
          <a:ext cx="95089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F64B6-2E86-C14B-8B7F-6D8E67611593}">
      <dsp:nvSpPr>
        <dsp:cNvPr id="0" name=""/>
        <dsp:cNvSpPr/>
      </dsp:nvSpPr>
      <dsp:spPr>
        <a:xfrm>
          <a:off x="0" y="1411070"/>
          <a:ext cx="9508959" cy="35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Simulated social listening data pipeline</a:t>
          </a:r>
          <a:endParaRPr lang="en-US" sz="1800" kern="1200" dirty="0"/>
        </a:p>
      </dsp:txBody>
      <dsp:txXfrm>
        <a:off x="0" y="1411070"/>
        <a:ext cx="9508959" cy="352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F245A-35A9-4CB4-B9F4-74C3A0F38717}">
      <dsp:nvSpPr>
        <dsp:cNvPr id="0" name=""/>
        <dsp:cNvSpPr/>
      </dsp:nvSpPr>
      <dsp:spPr>
        <a:xfrm>
          <a:off x="478800" y="374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9AB018-857A-4AA7-9700-DFB152291067}">
      <dsp:nvSpPr>
        <dsp:cNvPr id="0" name=""/>
        <dsp:cNvSpPr/>
      </dsp:nvSpPr>
      <dsp:spPr>
        <a:xfrm>
          <a:off x="712800" y="60865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B929C-8BFE-48AF-BAEA-EBF8DD2B3EFD}">
      <dsp:nvSpPr>
        <dsp:cNvPr id="0" name=""/>
        <dsp:cNvSpPr/>
      </dsp:nvSpPr>
      <dsp:spPr>
        <a:xfrm>
          <a:off x="127800" y="1814652"/>
          <a:ext cx="1800000" cy="175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solidFill>
                <a:schemeClr val="tx1"/>
              </a:solidFill>
            </a:rPr>
            <a:t>The category is dominated by price and delivery speed during black </a:t>
          </a:r>
          <a:r>
            <a:rPr lang="en-US" sz="1400" kern="1200" cap="none" dirty="0" err="1">
              <a:solidFill>
                <a:schemeClr val="tx1"/>
              </a:solidFill>
            </a:rPr>
            <a:t>november</a:t>
          </a:r>
          <a:r>
            <a:rPr lang="en-US" sz="1400" kern="1200" cap="none" dirty="0">
              <a:solidFill>
                <a:schemeClr val="tx1"/>
              </a:solidFill>
            </a:rPr>
            <a:t>, with deals and fast availability shaping what consumers expect across retailers.</a:t>
          </a:r>
        </a:p>
      </dsp:txBody>
      <dsp:txXfrm>
        <a:off x="127800" y="1814652"/>
        <a:ext cx="1800000" cy="1759570"/>
      </dsp:txXfrm>
    </dsp:sp>
    <dsp:sp modelId="{4E8B7E21-0B5D-4449-A7D6-4604CF34EC62}">
      <dsp:nvSpPr>
        <dsp:cNvPr id="0" name=""/>
        <dsp:cNvSpPr/>
      </dsp:nvSpPr>
      <dsp:spPr>
        <a:xfrm>
          <a:off x="2593800" y="374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A882F-3E4E-47B6-9FD4-F26EAC504F75}">
      <dsp:nvSpPr>
        <dsp:cNvPr id="0" name=""/>
        <dsp:cNvSpPr/>
      </dsp:nvSpPr>
      <dsp:spPr>
        <a:xfrm>
          <a:off x="2827800" y="60865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5C9A5-704D-4489-9EB6-458F10BC82C8}">
      <dsp:nvSpPr>
        <dsp:cNvPr id="0" name=""/>
        <dsp:cNvSpPr/>
      </dsp:nvSpPr>
      <dsp:spPr>
        <a:xfrm>
          <a:off x="2242800" y="1814652"/>
          <a:ext cx="1800000" cy="175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solidFill>
                <a:schemeClr val="tx1"/>
              </a:solidFill>
            </a:rPr>
            <a:t>Consumer-electronics buyers are research-driven and cautious, valuing reassurance and long-term support alongside competitive pricing.</a:t>
          </a:r>
        </a:p>
      </dsp:txBody>
      <dsp:txXfrm>
        <a:off x="2242800" y="1814652"/>
        <a:ext cx="1800000" cy="1759570"/>
      </dsp:txXfrm>
    </dsp:sp>
    <dsp:sp modelId="{371C428C-AE9F-4022-B534-2117E6E0A186}">
      <dsp:nvSpPr>
        <dsp:cNvPr id="0" name=""/>
        <dsp:cNvSpPr/>
      </dsp:nvSpPr>
      <dsp:spPr>
        <a:xfrm>
          <a:off x="4708800" y="374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F8C606-87FF-4EB0-8897-8906CAD92AC4}">
      <dsp:nvSpPr>
        <dsp:cNvPr id="0" name=""/>
        <dsp:cNvSpPr/>
      </dsp:nvSpPr>
      <dsp:spPr>
        <a:xfrm>
          <a:off x="4942800" y="60865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6DE5F-D6A0-4BAF-89AA-E19A707A1C52}">
      <dsp:nvSpPr>
        <dsp:cNvPr id="0" name=""/>
        <dsp:cNvSpPr/>
      </dsp:nvSpPr>
      <dsp:spPr>
        <a:xfrm>
          <a:off x="4357800" y="1814652"/>
          <a:ext cx="1800000" cy="175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solidFill>
                <a:schemeClr val="tx1"/>
              </a:solidFill>
            </a:rPr>
            <a:t>Social listening shows that while discounts drive attention, guidance, service, and after-sales support trigger stronger emotional responses.</a:t>
          </a:r>
        </a:p>
      </dsp:txBody>
      <dsp:txXfrm>
        <a:off x="4357800" y="1814652"/>
        <a:ext cx="1800000" cy="1759570"/>
      </dsp:txXfrm>
    </dsp:sp>
    <dsp:sp modelId="{3EB313E1-60AE-441C-AC4E-277DC44AD788}">
      <dsp:nvSpPr>
        <dsp:cNvPr id="0" name=""/>
        <dsp:cNvSpPr/>
      </dsp:nvSpPr>
      <dsp:spPr>
        <a:xfrm>
          <a:off x="6823800" y="374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39EDC-89DF-4F17-9130-4CDD451169B1}">
      <dsp:nvSpPr>
        <dsp:cNvPr id="0" name=""/>
        <dsp:cNvSpPr/>
      </dsp:nvSpPr>
      <dsp:spPr>
        <a:xfrm>
          <a:off x="7057800" y="60865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86F8A-6306-4C24-BDDF-65BE040AFDD8}">
      <dsp:nvSpPr>
        <dsp:cNvPr id="0" name=""/>
        <dsp:cNvSpPr/>
      </dsp:nvSpPr>
      <dsp:spPr>
        <a:xfrm>
          <a:off x="6472800" y="1814652"/>
          <a:ext cx="1800000" cy="175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 err="1">
              <a:solidFill>
                <a:schemeClr val="tx1"/>
              </a:solidFill>
            </a:rPr>
            <a:t>Mediamarkt</a:t>
          </a:r>
          <a:r>
            <a:rPr lang="en-US" sz="1400" kern="1200" cap="none" dirty="0">
              <a:solidFill>
                <a:schemeClr val="tx1"/>
              </a:solidFill>
            </a:rPr>
            <a:t> competes strongly on price, often matching market deals within a narrow range during peak periods, while also offering fast availability and same-day delivery where possible.</a:t>
          </a:r>
        </a:p>
      </dsp:txBody>
      <dsp:txXfrm>
        <a:off x="6472800" y="1814652"/>
        <a:ext cx="1800000" cy="1759570"/>
      </dsp:txXfrm>
    </dsp:sp>
    <dsp:sp modelId="{C28D4D5A-D83E-4E32-B941-D18291315CE4}">
      <dsp:nvSpPr>
        <dsp:cNvPr id="0" name=""/>
        <dsp:cNvSpPr/>
      </dsp:nvSpPr>
      <dsp:spPr>
        <a:xfrm>
          <a:off x="8938800" y="374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5CFA0-403D-475C-B68F-6C9A83DEEC7B}">
      <dsp:nvSpPr>
        <dsp:cNvPr id="0" name=""/>
        <dsp:cNvSpPr/>
      </dsp:nvSpPr>
      <dsp:spPr>
        <a:xfrm>
          <a:off x="9172800" y="60865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A879D-25C5-4F69-B429-CDEAE6C40512}">
      <dsp:nvSpPr>
        <dsp:cNvPr id="0" name=""/>
        <dsp:cNvSpPr/>
      </dsp:nvSpPr>
      <dsp:spPr>
        <a:xfrm>
          <a:off x="8587800" y="1814652"/>
          <a:ext cx="1800000" cy="1759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none" dirty="0">
              <a:solidFill>
                <a:schemeClr val="tx1"/>
              </a:solidFill>
            </a:rPr>
            <a:t>The direction forward is clear: wherever customers buy from </a:t>
          </a:r>
          <a:r>
            <a:rPr lang="en-US" sz="1400" kern="1200" cap="none" dirty="0" err="1">
              <a:solidFill>
                <a:schemeClr val="tx1"/>
              </a:solidFill>
            </a:rPr>
            <a:t>mediamarkt</a:t>
          </a:r>
          <a:r>
            <a:rPr lang="en-US" sz="1400" kern="1200" cap="none" dirty="0">
              <a:solidFill>
                <a:schemeClr val="tx1"/>
              </a:solidFill>
            </a:rPr>
            <a:t>, online or in store, they get competitive deals plus the confidence of support before, during, and after the purchase.</a:t>
          </a:r>
        </a:p>
      </dsp:txBody>
      <dsp:txXfrm>
        <a:off x="8587800" y="1814652"/>
        <a:ext cx="1800000" cy="1759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B889-9B88-C14A-BB9C-0DB38DEC8D02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2BCE2-FE3A-3D44-B3E1-7FE5F8678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0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EABF-C651-A1FE-59A3-9622D5AA9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E4E66-2C19-07A8-F289-FC4DD6654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2FF50-E122-810F-0E25-1F23F2AD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3164C-67B3-4946-9EF4-9F550CB6D34A}" type="datetime1">
              <a:rPr lang="en-IN" smtClean="0"/>
              <a:t>05/02/26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9CCCE-0368-536B-63C6-15975FC1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BFC4B-FD54-C2DD-F077-B636B04E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3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99E3-C293-90E2-8ED2-28B9FD45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92EE5-C55F-E894-CD67-8FD3628EF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EB68F-208F-A8C7-89A0-B26F0A6A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3304-1868-1E41-94BF-8E3D105D71B8}" type="datetime1">
              <a:rPr lang="en-IN" smtClean="0"/>
              <a:t>05/02/26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49AA4-B42C-3982-7B6B-5C524B9B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8CD8-0790-0E38-D520-EBCD2BEC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7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22DC-8D7B-ABCB-2312-04D1E5CE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F1CE-7401-779E-5504-F71BEC30C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5DA4A-E30B-79B6-1171-2F8BDC27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AD652-1F31-724F-B519-D6A9422C65D2}" type="datetime1">
              <a:rPr lang="en-IN" smtClean="0"/>
              <a:t>05/02/26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51A6-26E9-E2AE-4D97-1B469CB6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3531F-5A79-81DA-E91C-97E03114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9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3417-65F6-54C1-1D65-E7CACDC51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D9CD-AE6D-8A2C-B502-872C10D05B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C63C3-9221-53A0-B452-2ECA5C6A9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C81BE-B062-B19D-00E9-0C410F1B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86861-342E-E44F-AA5A-0AB24FF75D47}" type="datetime1">
              <a:rPr lang="en-IN" smtClean="0"/>
              <a:t>05/02/26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27DC7-4D76-6DE4-4D32-7F4437CD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F2DC7-2F64-BEE5-4D4E-B15B94BF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A5CD-D16F-4365-047E-1152C1DB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2734F-7E76-3A8E-E7BC-579FB2827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6030B-1101-9C2A-EB7E-FA26565F2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8A50F-D2C2-FD07-D734-3EA18E270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6AFD9-A193-5107-BFAE-7ED88C7C5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8FE1E-B9DB-F31A-CA94-5F625620F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538F-1D4C-7349-8BAE-43288814884C}" type="datetime1">
              <a:rPr lang="en-IN" smtClean="0"/>
              <a:t>05/02/26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3FA19-98D8-EB72-F457-FB365258D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430B5-A9F3-A4BE-F63B-F71B5280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5DB4-5A28-E343-7DC8-A1DA44E0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6E0FA-BC32-10D7-21CE-16E7DF53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1770-16A7-B145-A2A4-55BE20C056C1}" type="datetime1">
              <a:rPr lang="en-IN" smtClean="0"/>
              <a:t>05/02/26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97A1F-C021-4206-6B4F-83A865F9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2D67E-E2FF-496A-3BDC-BEDE5C3C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7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36031-82BA-86D6-1839-B667F9E0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E7302-6A2E-5849-8901-50E0C3A7FC11}" type="datetime1">
              <a:rPr lang="en-IN" smtClean="0"/>
              <a:t>05/02/26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65A3B-B74D-8CB9-EF06-C5BA4182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0C386-C841-020C-EF47-2D569AC8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5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F2C4-230C-AD91-C4EA-C5D9598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839C-9CC0-C923-786D-497E87069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FB288-D6F9-E72A-F03E-467B6B8DB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9E55-C7E7-C091-8692-FC4DE892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88CF-5EB4-7C4F-8C45-63F6904F47FC}" type="datetime1">
              <a:rPr lang="en-IN" smtClean="0"/>
              <a:t>05/02/26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EFFC7-347D-DF62-6FE1-542DF60E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D425E-AFA3-BF5F-F900-BE561F6F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1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E28D-B17A-BE9D-467F-F28D615AB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2F7E8-133F-BFBE-AE47-D52C111AD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7895C-ABE4-81F6-21B3-3F7F3983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70760-C067-C579-381F-6DC6FA16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C593-FA0E-D04A-A326-C538CBFE4E37}" type="datetime1">
              <a:rPr lang="en-IN" smtClean="0"/>
              <a:t>05/02/26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3E46E-CCCA-576F-A196-74050DFA0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0A7EA-5F2F-D3C2-0734-A4410512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6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4DCA-E191-9E8A-4702-5D2C5C49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7CFB2-C253-2812-F75A-BC2E7A4CA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03A6-C47B-2D38-AEDE-4E90EE1E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DDB2-B517-9E46-9888-A1E18BF391A2}" type="datetime1">
              <a:rPr lang="en-IN" smtClean="0"/>
              <a:t>05/02/26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D9995-B624-B6B7-0DEB-FB848AE3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FC976-D64E-0113-B143-991C9CCA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5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C82979-19C1-1C7E-3BF5-F968308D4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8CBB6-CF4B-BF2B-1CD1-13ED30429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26A80-E0C7-4245-A56B-1C9238E5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0C7A-90F7-A942-AEDC-FAF430C46C54}" type="datetime1">
              <a:rPr lang="en-IN" smtClean="0"/>
              <a:t>05/02/26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ED691-5CA1-0AC0-DBEF-C39A4BFA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50920-0885-4F10-5AA3-705726F6F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1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903E3-985C-3970-B7F3-F3213D45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439CB-AC62-CCDE-B539-2DB29C27E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82CA-DBCE-F51E-FBB9-9825F34D4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402D7-45EB-EF4A-8B51-DE1BAB36BAD6}" type="datetime1">
              <a:rPr lang="en-IN" smtClean="0"/>
              <a:t>05/02/26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8361-80D0-8903-AD36-AAC137AD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Yatan Upadhyaya | Saatchi &amp; Saatchi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72775-1208-A33A-419E-932B7F160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8DCD1-25E1-0145-9BE1-E2D88030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0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yatanupadhyaya/Library/CloudStorage/OneDrive-Personal/Saatchi%20and%20Saatchi%20Task%202/docs/doxygen/html/index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8A85B-1640-339A-98B3-D67A974C0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dirty="0">
                <a:solidFill>
                  <a:srgbClr val="EE0814"/>
                </a:solidFill>
              </a:rPr>
              <a:t>Winning Black November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BDE2E-71B3-731D-AFEF-45483CE56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155932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 Data Driven Strategic Recommendation to Differentiate </a:t>
            </a:r>
            <a:r>
              <a:rPr lang="en-US" dirty="0" err="1">
                <a:solidFill>
                  <a:srgbClr val="EE0814"/>
                </a:solidFill>
              </a:rPr>
              <a:t>MediaMarkt</a:t>
            </a:r>
            <a:r>
              <a:rPr lang="en-US" dirty="0"/>
              <a:t> in Germany</a:t>
            </a:r>
          </a:p>
        </p:txBody>
      </p:sp>
      <p:sp>
        <p:nvSpPr>
          <p:cNvPr id="133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Saatchi &amp; Saatchi - New Business Circle">
            <a:extLst>
              <a:ext uri="{FF2B5EF4-FFF2-40B4-BE49-F238E27FC236}">
                <a16:creationId xmlns:a16="http://schemas.microsoft.com/office/drawing/2014/main" id="{C41AFB72-2681-15D2-1709-0ACCA7BA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41651" y="1398086"/>
            <a:ext cx="7214616" cy="406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E0326-E6F4-0BEA-CDAE-D0119CDD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5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02FD-CD4B-EA69-4B7A-B4BAE9F2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EE0814"/>
                </a:solidFill>
              </a:rPr>
              <a:t>My Approach: The 10,000 Foot 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68CF1C-34B8-F467-309B-9B4F2F066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23872"/>
            <a:ext cx="84176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 first: Win share from 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catrgory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not just reinforce loyalty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Zoom out: Look at the whole electronics audience, not just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MediaMarkt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shoppers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Look Within: </a:t>
            </a:r>
            <a:r>
              <a:rPr lang="en-IN" sz="1800" dirty="0" err="1"/>
              <a:t>MediaMarkt’s</a:t>
            </a:r>
            <a:r>
              <a:rPr lang="en-IN" sz="1800" dirty="0"/>
              <a:t> role in the category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Spot the gap: What actually helps people choose?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8132C-9429-9B70-9A48-8FA266B3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CF5A97F-1A34-EF9B-9DF4-2EA8B099B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6334858"/>
              </p:ext>
            </p:extLst>
          </p:nvPr>
        </p:nvGraphicFramePr>
        <p:xfrm>
          <a:off x="838200" y="3600485"/>
          <a:ext cx="9508959" cy="17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F7A5F17-3402-69E8-CE90-14E8B4E3E3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6000" y="1513808"/>
            <a:ext cx="50800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0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4DD7B-2620-4EE8-E461-309CF1DB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Market and Category</a:t>
            </a:r>
          </a:p>
        </p:txBody>
      </p:sp>
      <p:sp>
        <p:nvSpPr>
          <p:cNvPr id="1639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6" name="Picture 2" descr="Market share concept illustration | Premium Vector">
            <a:extLst>
              <a:ext uri="{FF2B5EF4-FFF2-40B4-BE49-F238E27FC236}">
                <a16:creationId xmlns:a16="http://schemas.microsoft.com/office/drawing/2014/main" id="{CA410AC1-58BC-C10B-F42F-7D221747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3005" y="2633472"/>
            <a:ext cx="4482941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48C5E-11C0-1C17-8573-5290C2C8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352639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86E8-9BF5-D152-E97D-EF3D919C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EE0814"/>
                </a:solidFill>
              </a:rPr>
              <a:t>Market and Category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FDD85F-7E94-6155-73B9-B6D5AAE99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449079"/>
              </p:ext>
            </p:extLst>
          </p:nvPr>
        </p:nvGraphicFramePr>
        <p:xfrm>
          <a:off x="465221" y="3353637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2548">
                  <a:extLst>
                    <a:ext uri="{9D8B030D-6E8A-4147-A177-3AD203B41FA5}">
                      <a16:colId xmlns:a16="http://schemas.microsoft.com/office/drawing/2014/main" val="3410575646"/>
                    </a:ext>
                  </a:extLst>
                </a:gridCol>
                <a:gridCol w="2737852">
                  <a:extLst>
                    <a:ext uri="{9D8B030D-6E8A-4147-A177-3AD203B41FA5}">
                      <a16:colId xmlns:a16="http://schemas.microsoft.com/office/drawing/2014/main" val="24474922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95517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MediaMarkt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(Online + Offline)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Amazon (Online)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8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 Sales (Billion €)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€ 9.8 (2.5 Billion Online)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€ 40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16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Consumer Electronics Share (Billion €)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€ 9.8 (2.5 Billion Online)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€ 12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4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YoY Growth % (CE)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8.7%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62582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F5B937-5F62-160F-EC3B-68F0D4791184}"/>
              </a:ext>
            </a:extLst>
          </p:cNvPr>
          <p:cNvSpPr txBox="1">
            <a:spLocks/>
          </p:cNvSpPr>
          <p:nvPr/>
        </p:nvSpPr>
        <p:spPr>
          <a:xfrm>
            <a:off x="260684" y="1690687"/>
            <a:ext cx="10515600" cy="1381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/>
              <a:t>Consumer Electronics - CE (Mobile Phone, TV, Computers, Cameras; Household Appliances like Washing Machine, Air fryer, Dishwasher)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The total Consumer Electronics Market in Germany is 32 Billion Euros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The consumer electronics market in Germany is expected to grow at 3.1% CAGR from 2025-2035</a:t>
            </a:r>
          </a:p>
          <a:p>
            <a:pPr lvl="1">
              <a:lnSpc>
                <a:spcPct val="120000"/>
              </a:lnSpc>
            </a:pPr>
            <a:r>
              <a:rPr lang="en-US" sz="1050" dirty="0"/>
              <a:t>This estimates puts online growth at around 5% and offline at around 2%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1E12F9-5922-D4BB-9D60-5B18ED0E0E88}"/>
              </a:ext>
            </a:extLst>
          </p:cNvPr>
          <p:cNvSpPr txBox="1">
            <a:spLocks/>
          </p:cNvSpPr>
          <p:nvPr/>
        </p:nvSpPr>
        <p:spPr>
          <a:xfrm>
            <a:off x="465221" y="5016587"/>
            <a:ext cx="10515600" cy="13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Online vs Offline Split (40-45% Online vs 55-60% Offline)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2000" dirty="0"/>
              <a:t>For both Amazon and </a:t>
            </a:r>
            <a:r>
              <a:rPr lang="en-US" sz="2000" dirty="0" err="1"/>
              <a:t>MediaMarkt</a:t>
            </a:r>
            <a:r>
              <a:rPr lang="en-US" sz="2000" dirty="0"/>
              <a:t> generate 35-40% of the annual revenue in Q4, with </a:t>
            </a:r>
            <a:r>
              <a:rPr lang="en-US" sz="2000" b="1" dirty="0">
                <a:solidFill>
                  <a:schemeClr val="accent2"/>
                </a:solidFill>
              </a:rPr>
              <a:t>November and December being the strongest months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A4E094-1C2B-CECE-D0FA-6AC4A05E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84B5A-A790-74FD-923B-8AFA3C71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1345365"/>
            <a:ext cx="50800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2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94742-F40F-7FDF-0F6C-BF0C5564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The Consumer Electronics Market in Germany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D34B6-4F70-3814-19F1-67315C39DE13}"/>
              </a:ext>
            </a:extLst>
          </p:cNvPr>
          <p:cNvSpPr txBox="1"/>
          <p:nvPr/>
        </p:nvSpPr>
        <p:spPr>
          <a:xfrm>
            <a:off x="630936" y="2807208"/>
            <a:ext cx="267774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Although Amazon holds the largest share, </a:t>
            </a:r>
            <a:r>
              <a:rPr lang="en-US" dirty="0" err="1"/>
              <a:t>MediaMarkt’s</a:t>
            </a:r>
            <a:r>
              <a:rPr lang="en-US" dirty="0"/>
              <a:t> scale places it clearly among the top players in German consumer electronics, shaping category dynamics alongside Amazon rather than reacting to them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9AFC6A-A202-DBBD-6F28-0ECE8909E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1651" y="1390842"/>
            <a:ext cx="7016365" cy="436660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074A0-9730-09D3-BCCC-FF389A03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82921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1EB91-5A30-7D2E-2913-4B3454B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Price </a:t>
            </a:r>
            <a:r>
              <a:rPr lang="en-US" sz="3000" kern="1200" dirty="0" err="1">
                <a:solidFill>
                  <a:srgbClr val="EE0814"/>
                </a:solidFill>
                <a:latin typeface="+mj-lt"/>
                <a:ea typeface="+mj-ea"/>
                <a:cs typeface="+mj-cs"/>
              </a:rPr>
              <a:t>Competetion</a:t>
            </a:r>
            <a:r>
              <a:rPr lang="en-US" sz="3000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000" kern="1200" dirty="0" err="1">
                <a:solidFill>
                  <a:srgbClr val="EE0814"/>
                </a:solidFill>
                <a:latin typeface="+mj-lt"/>
                <a:ea typeface="+mj-ea"/>
                <a:cs typeface="+mj-cs"/>
              </a:rPr>
              <a:t>MediaMarkt</a:t>
            </a:r>
            <a:r>
              <a:rPr lang="en-US" sz="3000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 vs Amazon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6F4AF-900D-D3A5-5C84-4679A93F628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/>
              <a:t>Amazon is typically </a:t>
            </a:r>
            <a:r>
              <a:rPr lang="en-US" altLang="en-US" sz="2000" b="1" dirty="0"/>
              <a:t>€10 - 20 cheaper</a:t>
            </a:r>
            <a:r>
              <a:rPr lang="en-US" altLang="en-US" sz="2000" dirty="0"/>
              <a:t> than </a:t>
            </a:r>
            <a:r>
              <a:rPr lang="en-US" altLang="en-US" sz="2000" dirty="0" err="1"/>
              <a:t>MediaMarkt</a:t>
            </a:r>
            <a:r>
              <a:rPr lang="en-US" altLang="en-US" sz="2000" dirty="0"/>
              <a:t> in normal weeks</a:t>
            </a:r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2000" dirty="0"/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/>
              <a:t>During Black November, price gaps shrink to </a:t>
            </a:r>
            <a:r>
              <a:rPr lang="en-US" altLang="en-US" sz="2000" b="1" dirty="0"/>
              <a:t>within 5%</a:t>
            </a:r>
            <a:r>
              <a:rPr lang="en-US" altLang="en-US" sz="2000" dirty="0"/>
              <a:t> on many key products</a:t>
            </a:r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2000" dirty="0"/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 err="1"/>
              <a:t>MediaMarkt</a:t>
            </a:r>
            <a:r>
              <a:rPr lang="en-US" altLang="en-US" sz="2000" dirty="0"/>
              <a:t> </a:t>
            </a:r>
            <a:r>
              <a:rPr lang="en-US" altLang="en-US" sz="2000" b="1" dirty="0"/>
              <a:t>matches or beats Amazon on 16%</a:t>
            </a:r>
            <a:r>
              <a:rPr lang="en-US" altLang="en-US" sz="2000" dirty="0"/>
              <a:t> of hero SKUs in promo periods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A5B396F-319E-F020-5DBB-2C80FAD0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Yatan Upadhyaya | Saatchi &amp; Saatchi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8726B5-49AE-7575-D028-CDB3850B08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382031"/>
              </p:ext>
            </p:extLst>
          </p:nvPr>
        </p:nvGraphicFramePr>
        <p:xfrm>
          <a:off x="4391526" y="1750736"/>
          <a:ext cx="7166493" cy="416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6289">
                  <a:extLst>
                    <a:ext uri="{9D8B030D-6E8A-4147-A177-3AD203B41FA5}">
                      <a16:colId xmlns:a16="http://schemas.microsoft.com/office/drawing/2014/main" val="1602071536"/>
                    </a:ext>
                  </a:extLst>
                </a:gridCol>
                <a:gridCol w="1614908">
                  <a:extLst>
                    <a:ext uri="{9D8B030D-6E8A-4147-A177-3AD203B41FA5}">
                      <a16:colId xmlns:a16="http://schemas.microsoft.com/office/drawing/2014/main" val="662193424"/>
                    </a:ext>
                  </a:extLst>
                </a:gridCol>
                <a:gridCol w="1234290">
                  <a:extLst>
                    <a:ext uri="{9D8B030D-6E8A-4147-A177-3AD203B41FA5}">
                      <a16:colId xmlns:a16="http://schemas.microsoft.com/office/drawing/2014/main" val="1467207523"/>
                    </a:ext>
                  </a:extLst>
                </a:gridCol>
                <a:gridCol w="1411006">
                  <a:extLst>
                    <a:ext uri="{9D8B030D-6E8A-4147-A177-3AD203B41FA5}">
                      <a16:colId xmlns:a16="http://schemas.microsoft.com/office/drawing/2014/main" val="2858918754"/>
                    </a:ext>
                  </a:extLst>
                </a:gridCol>
              </a:tblGrid>
              <a:tr h="865456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SKUs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MediaMarkt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284" marR="94284" marT="47142" marB="4714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Amazon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Price Leader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946790"/>
                  </a:ext>
                </a:extLst>
              </a:tr>
              <a:tr h="865456">
                <a:tc>
                  <a:txBody>
                    <a:bodyPr/>
                    <a:lstStyle/>
                    <a:p>
                      <a:r>
                        <a:rPr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Playstation®5 Digital Edition – 825 GB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19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</a:t>
                      </a:r>
                      <a:r>
                        <a:rPr lang="en-IN" sz="19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475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900" b="1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€ 447</a:t>
                      </a:r>
                      <a:endParaRPr lang="en-US" sz="1900" dirty="0">
                        <a:solidFill>
                          <a:schemeClr val="accent6"/>
                        </a:solidFill>
                      </a:endParaRP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Amazon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47178"/>
                  </a:ext>
                </a:extLst>
              </a:tr>
              <a:tr h="1216316">
                <a:tc>
                  <a:txBody>
                    <a:bodyPr/>
                    <a:lstStyle/>
                    <a:p>
                      <a:r>
                        <a:rPr lang="en-US" sz="1900" dirty="0"/>
                        <a:t>SAMSUNG Galaxy A56 5G 128 GB Awesome Graphite Dual SIM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900" b="1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€ 278</a:t>
                      </a:r>
                      <a:endParaRPr lang="en-US" sz="1900" dirty="0">
                        <a:solidFill>
                          <a:schemeClr val="accent6"/>
                        </a:solidFill>
                      </a:endParaRP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900" b="1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€ 278</a:t>
                      </a:r>
                      <a:endParaRPr lang="en-US" sz="1900" dirty="0">
                        <a:solidFill>
                          <a:schemeClr val="accent6"/>
                        </a:solidFill>
                      </a:endParaRP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Same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102646"/>
                  </a:ext>
                </a:extLst>
              </a:tr>
              <a:tr h="12163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LG F4WX808YC Serie 8 </a:t>
                      </a:r>
                      <a:r>
                        <a:rPr lang="en-IN" sz="1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Waschmaschine</a:t>
                      </a:r>
                      <a:r>
                        <a:rPr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(8 kg, 1350 U/Min., A)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9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€ 680</a:t>
                      </a:r>
                      <a:endParaRPr lang="en-US" sz="1900" b="0" dirty="0">
                        <a:solidFill>
                          <a:srgbClr val="FF0000"/>
                        </a:solidFill>
                      </a:endParaRP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900" b="1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€ 599</a:t>
                      </a:r>
                      <a:endParaRPr lang="en-US" sz="1900" dirty="0">
                        <a:solidFill>
                          <a:schemeClr val="accent6"/>
                        </a:solidFill>
                      </a:endParaRP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Amazon</a:t>
                      </a:r>
                    </a:p>
                  </a:txBody>
                  <a:tcPr marL="94284" marR="94284" marT="47142" marB="4714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0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057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0127-A3B2-3EAC-CADF-153D496C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99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EE0814"/>
                </a:solidFill>
              </a:rPr>
              <a:t>The Message Landscape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B89EC5-67BB-9207-46DB-3ECA4A5D143B}"/>
              </a:ext>
            </a:extLst>
          </p:cNvPr>
          <p:cNvGrpSpPr/>
          <p:nvPr/>
        </p:nvGrpSpPr>
        <p:grpSpPr>
          <a:xfrm>
            <a:off x="1269331" y="1821989"/>
            <a:ext cx="9653337" cy="2897021"/>
            <a:chOff x="838200" y="2637505"/>
            <a:chExt cx="10388257" cy="328651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68946C-712D-632E-7233-8BFE91E1B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637505"/>
              <a:ext cx="3858079" cy="328651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22BE90-F47D-0992-C90D-E3A7E2DC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5723" y="2831612"/>
              <a:ext cx="3730734" cy="304764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59285A-8D44-2AA1-305D-B872A155745D}"/>
                </a:ext>
              </a:extLst>
            </p:cNvPr>
            <p:cNvSpPr txBox="1"/>
            <p:nvPr/>
          </p:nvSpPr>
          <p:spPr>
            <a:xfrm>
              <a:off x="5151522" y="3495931"/>
              <a:ext cx="18889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F0000"/>
                  </a:solidFill>
                </a:rPr>
                <a:t>PRIC€</a:t>
              </a:r>
            </a:p>
            <a:p>
              <a:pPr algn="ctr"/>
              <a:r>
                <a:rPr lang="en-US" sz="3200" dirty="0">
                  <a:solidFill>
                    <a:srgbClr val="FF0000"/>
                  </a:solidFill>
                </a:rPr>
                <a:t>D€ALS</a:t>
              </a:r>
            </a:p>
            <a:p>
              <a:pPr algn="ctr"/>
              <a:r>
                <a:rPr lang="en-US" sz="3200" dirty="0">
                  <a:solidFill>
                    <a:srgbClr val="FF0000"/>
                  </a:solidFill>
                </a:rPr>
                <a:t>CH€AP</a:t>
              </a: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1B0A3F-279D-6A5C-7C75-E8FF65236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806683"/>
              </p:ext>
            </p:extLst>
          </p:nvPr>
        </p:nvGraphicFramePr>
        <p:xfrm>
          <a:off x="838199" y="5030084"/>
          <a:ext cx="10388256" cy="73281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462752">
                  <a:extLst>
                    <a:ext uri="{9D8B030D-6E8A-4147-A177-3AD203B41FA5}">
                      <a16:colId xmlns:a16="http://schemas.microsoft.com/office/drawing/2014/main" val="1592542007"/>
                    </a:ext>
                  </a:extLst>
                </a:gridCol>
                <a:gridCol w="3462752">
                  <a:extLst>
                    <a:ext uri="{9D8B030D-6E8A-4147-A177-3AD203B41FA5}">
                      <a16:colId xmlns:a16="http://schemas.microsoft.com/office/drawing/2014/main" val="321371830"/>
                    </a:ext>
                  </a:extLst>
                </a:gridCol>
                <a:gridCol w="3462752">
                  <a:extLst>
                    <a:ext uri="{9D8B030D-6E8A-4147-A177-3AD203B41FA5}">
                      <a16:colId xmlns:a16="http://schemas.microsoft.com/office/drawing/2014/main" val="1147037141"/>
                    </a:ext>
                  </a:extLst>
                </a:gridCol>
              </a:tblGrid>
              <a:tr h="732819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Price-first, everywhere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Urgency over reassurance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Different brands, same voice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015560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279FA63-808D-A463-FC51-7CD60FD5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7E76F0-4667-7530-8E93-CF73226BC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1345365"/>
            <a:ext cx="50800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9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66519-AA86-647D-942B-16781C9A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Market Insight: The White Space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72F1A3-8C2D-B813-F46F-12938CEE8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532059"/>
              </p:ext>
            </p:extLst>
          </p:nvPr>
        </p:nvGraphicFramePr>
        <p:xfrm>
          <a:off x="319265" y="2673575"/>
          <a:ext cx="11548872" cy="309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8872">
                  <a:extLst>
                    <a:ext uri="{9D8B030D-6E8A-4147-A177-3AD203B41FA5}">
                      <a16:colId xmlns:a16="http://schemas.microsoft.com/office/drawing/2014/main" val="266559025"/>
                    </a:ext>
                  </a:extLst>
                </a:gridCol>
              </a:tblGrid>
              <a:tr h="773262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Price dominates the category, everything is a “great deal”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50148" marR="150148" marT="75074" marB="7507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786085"/>
                  </a:ext>
                </a:extLst>
              </a:tr>
              <a:tr h="77326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Black November intensifies this dynamic, pulling competitors into reactive pricing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50148" marR="150148" marT="75074" marB="7507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711980"/>
                  </a:ext>
                </a:extLst>
              </a:tr>
              <a:tr h="773262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</a:rPr>
                        <a:t>As urgency and discounts escalate, brand differentiation collapses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50148" marR="150148" marT="75074" marB="7507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657515"/>
                  </a:ext>
                </a:extLst>
              </a:tr>
              <a:tr h="773262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accent2"/>
                          </a:solidFill>
                        </a:rPr>
                        <a:t>The resulting gap points directly to </a:t>
                      </a:r>
                      <a:r>
                        <a:rPr lang="en-IN" sz="2000" b="1" dirty="0" err="1">
                          <a:solidFill>
                            <a:schemeClr val="accent2"/>
                          </a:solidFill>
                        </a:rPr>
                        <a:t>MediaMarkt’s</a:t>
                      </a:r>
                      <a:r>
                        <a:rPr lang="en-IN" sz="2000" b="1" dirty="0">
                          <a:solidFill>
                            <a:schemeClr val="accent2"/>
                          </a:solidFill>
                        </a:rPr>
                        <a:t> role beyond price</a:t>
                      </a:r>
                      <a:endParaRPr lang="en-US" sz="20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150148" marR="150148" marT="75074" marB="7507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698677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2AAD5-0A11-978B-C164-FBF75B15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85779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8" name="Rectangle 1230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34D6C-4407-363D-70FA-A8E1927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Consumer</a:t>
            </a:r>
          </a:p>
        </p:txBody>
      </p:sp>
      <p:sp>
        <p:nvSpPr>
          <p:cNvPr id="123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2" name="Picture 4" descr="Consumer motivation illustration">
            <a:extLst>
              <a:ext uri="{FF2B5EF4-FFF2-40B4-BE49-F238E27FC236}">
                <a16:creationId xmlns:a16="http://schemas.microsoft.com/office/drawing/2014/main" id="{16A2E50A-AFE0-CD60-A9B4-54451480B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8069" y="2633472"/>
            <a:ext cx="5372814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9C70D-97B4-25AB-AA44-864418B1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472542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C65-65A3-37DC-690B-A365B5BC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EE0814"/>
                </a:solidFill>
              </a:rPr>
              <a:t>Consumer </a:t>
            </a:r>
            <a:r>
              <a:rPr lang="en-US" dirty="0" err="1">
                <a:solidFill>
                  <a:srgbClr val="EE0814"/>
                </a:solidFill>
              </a:rPr>
              <a:t>Behaviour</a:t>
            </a:r>
            <a:endParaRPr lang="en-US" dirty="0">
              <a:solidFill>
                <a:srgbClr val="EE0814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5BAA25-3640-E00E-B5E7-6B619B9179F5}"/>
              </a:ext>
            </a:extLst>
          </p:cNvPr>
          <p:cNvGrpSpPr/>
          <p:nvPr/>
        </p:nvGrpSpPr>
        <p:grpSpPr>
          <a:xfrm>
            <a:off x="1189197" y="1810858"/>
            <a:ext cx="3103860" cy="1061263"/>
            <a:chOff x="1179382" y="870857"/>
            <a:chExt cx="2466474" cy="10612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4D85EF-F5F5-3117-B0B4-8F1FB4C8735C}"/>
                </a:ext>
              </a:extLst>
            </p:cNvPr>
            <p:cNvSpPr txBox="1"/>
            <p:nvPr/>
          </p:nvSpPr>
          <p:spPr>
            <a:xfrm>
              <a:off x="1480458" y="870857"/>
              <a:ext cx="1864322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en-US" sz="1400" b="1" dirty="0">
                  <a:latin typeface="Arial" panose="020B0604020202020204" pitchFamily="34" charset="0"/>
                </a:rPr>
                <a:t>Price conscious, not price obsessed</a:t>
              </a:r>
              <a:endParaRPr 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654738-D246-05CF-9ACD-F85B95BB0413}"/>
                </a:ext>
              </a:extLst>
            </p:cNvPr>
            <p:cNvSpPr txBox="1"/>
            <p:nvPr/>
          </p:nvSpPr>
          <p:spPr>
            <a:xfrm>
              <a:off x="1179382" y="1285789"/>
              <a:ext cx="2466474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en-US" sz="1200" dirty="0">
                  <a:latin typeface="Arial" panose="020B0604020202020204" pitchFamily="34" charset="0"/>
                </a:rPr>
                <a:t>Shoppers benchmark prices carefully, yet the lowest price alone rarely seals the deal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E1F7DC-5F32-0FC8-69E2-F15934218580}"/>
              </a:ext>
            </a:extLst>
          </p:cNvPr>
          <p:cNvGrpSpPr/>
          <p:nvPr/>
        </p:nvGrpSpPr>
        <p:grpSpPr>
          <a:xfrm>
            <a:off x="1068737" y="2976377"/>
            <a:ext cx="3344779" cy="848615"/>
            <a:chOff x="1082842" y="870857"/>
            <a:chExt cx="2482639" cy="8486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E21406-FF65-092D-C3DE-AFB388FF8FC1}"/>
                </a:ext>
              </a:extLst>
            </p:cNvPr>
            <p:cNvSpPr txBox="1"/>
            <p:nvPr/>
          </p:nvSpPr>
          <p:spPr>
            <a:xfrm>
              <a:off x="1082842" y="870857"/>
              <a:ext cx="2382253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en-US" sz="1400" b="1" dirty="0">
                  <a:latin typeface="Arial" panose="020B0604020202020204" pitchFamily="34" charset="0"/>
                </a:rPr>
                <a:t>Deliberate, research before buying</a:t>
              </a:r>
              <a:endParaRPr 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6BA7CE-05D4-18EF-2E11-633239FAD85B}"/>
                </a:ext>
              </a:extLst>
            </p:cNvPr>
            <p:cNvSpPr txBox="1"/>
            <p:nvPr/>
          </p:nvSpPr>
          <p:spPr>
            <a:xfrm>
              <a:off x="1099007" y="1257807"/>
              <a:ext cx="246647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1200" dirty="0"/>
                <a:t>Consumers actively compare specs, reviews, and alternatives before committing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92E717-2EF7-3E22-EB68-78102E529B8A}"/>
              </a:ext>
            </a:extLst>
          </p:cNvPr>
          <p:cNvGrpSpPr/>
          <p:nvPr/>
        </p:nvGrpSpPr>
        <p:grpSpPr>
          <a:xfrm>
            <a:off x="1366748" y="4132089"/>
            <a:ext cx="2748757" cy="972853"/>
            <a:chOff x="1082842" y="870857"/>
            <a:chExt cx="2493841" cy="97285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597893-2A80-0B41-BA7B-7CE65A49E86C}"/>
                </a:ext>
              </a:extLst>
            </p:cNvPr>
            <p:cNvSpPr txBox="1"/>
            <p:nvPr/>
          </p:nvSpPr>
          <p:spPr>
            <a:xfrm>
              <a:off x="1082842" y="870857"/>
              <a:ext cx="2382253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en-US" sz="1400" b="1" dirty="0">
                  <a:latin typeface="Arial" panose="020B0604020202020204" pitchFamily="34" charset="0"/>
                </a:rPr>
                <a:t>Cautious with high-value electronics</a:t>
              </a:r>
              <a:endParaRPr 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5C2EEB-9DD7-60EB-75BD-F160695D74C0}"/>
                </a:ext>
              </a:extLst>
            </p:cNvPr>
            <p:cNvSpPr txBox="1"/>
            <p:nvPr/>
          </p:nvSpPr>
          <p:spPr>
            <a:xfrm>
              <a:off x="1110209" y="1382045"/>
              <a:ext cx="246647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1200" dirty="0"/>
                <a:t>Bigger price tags increase anxiety around making the wrong choice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0B87B5-41C0-6C4E-0DEF-091FA677D236}"/>
              </a:ext>
            </a:extLst>
          </p:cNvPr>
          <p:cNvGrpSpPr/>
          <p:nvPr/>
        </p:nvGrpSpPr>
        <p:grpSpPr>
          <a:xfrm>
            <a:off x="1112992" y="5412039"/>
            <a:ext cx="3149229" cy="832660"/>
            <a:chOff x="1082842" y="870857"/>
            <a:chExt cx="2553259" cy="8326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97E411-D80F-E061-52F3-3FDD7A47D8D6}"/>
                </a:ext>
              </a:extLst>
            </p:cNvPr>
            <p:cNvSpPr txBox="1"/>
            <p:nvPr/>
          </p:nvSpPr>
          <p:spPr>
            <a:xfrm>
              <a:off x="1082842" y="870857"/>
              <a:ext cx="246647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1400" b="1" dirty="0"/>
                <a:t>Decisions anchored in trust</a:t>
              </a:r>
              <a:endParaRPr lang="en-US" sz="14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7E1175-CBDC-CB84-1952-DF3A2DB62923}"/>
                </a:ext>
              </a:extLst>
            </p:cNvPr>
            <p:cNvSpPr txBox="1"/>
            <p:nvPr/>
          </p:nvSpPr>
          <p:spPr>
            <a:xfrm>
              <a:off x="1169627" y="1057186"/>
              <a:ext cx="2466474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1200" dirty="0"/>
                <a:t>Retailer credibility, expertise, and reliability strongly influence purchase confidence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2A5E53-167E-D373-F2E3-4D3C0CDCE241}"/>
              </a:ext>
            </a:extLst>
          </p:cNvPr>
          <p:cNvGrpSpPr/>
          <p:nvPr/>
        </p:nvGrpSpPr>
        <p:grpSpPr>
          <a:xfrm>
            <a:off x="7469893" y="1749302"/>
            <a:ext cx="2949741" cy="1169551"/>
            <a:chOff x="1179382" y="870857"/>
            <a:chExt cx="2466474" cy="116955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7519AD-79A0-CA04-3319-368C860B4EBE}"/>
                </a:ext>
              </a:extLst>
            </p:cNvPr>
            <p:cNvSpPr txBox="1"/>
            <p:nvPr/>
          </p:nvSpPr>
          <p:spPr>
            <a:xfrm>
              <a:off x="1480458" y="870857"/>
              <a:ext cx="18643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/>
                <a:t>Fluid movement between channels</a:t>
              </a:r>
              <a:endParaRPr lang="en-US" sz="1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96EA46-4889-1186-BE66-64C72D52E1B7}"/>
                </a:ext>
              </a:extLst>
            </p:cNvPr>
            <p:cNvSpPr txBox="1"/>
            <p:nvPr/>
          </p:nvSpPr>
          <p:spPr>
            <a:xfrm>
              <a:off x="1179382" y="1394077"/>
              <a:ext cx="24664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/>
                <a:t>Online research often leads to in-store validation for complex or expensive items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ADC6A1-DDE1-69D3-6C0E-3B5EFBD88326}"/>
              </a:ext>
            </a:extLst>
          </p:cNvPr>
          <p:cNvGrpSpPr/>
          <p:nvPr/>
        </p:nvGrpSpPr>
        <p:grpSpPr>
          <a:xfrm>
            <a:off x="7365875" y="2967335"/>
            <a:ext cx="2949740" cy="1169551"/>
            <a:chOff x="1082842" y="870857"/>
            <a:chExt cx="2563014" cy="11695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3281C3-B9A0-90E5-C8A3-CDFD43B139DF}"/>
                </a:ext>
              </a:extLst>
            </p:cNvPr>
            <p:cNvSpPr txBox="1"/>
            <p:nvPr/>
          </p:nvSpPr>
          <p:spPr>
            <a:xfrm>
              <a:off x="1082842" y="870857"/>
              <a:ext cx="2382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400" b="1" dirty="0">
                  <a:latin typeface="Arial" panose="020B0604020202020204" pitchFamily="34" charset="0"/>
                </a:rPr>
                <a:t>Promotion overload during peak periods</a:t>
              </a:r>
              <a:endParaRPr 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3911C0-163C-3617-B550-9BE0EDD7C49B}"/>
                </a:ext>
              </a:extLst>
            </p:cNvPr>
            <p:cNvSpPr txBox="1"/>
            <p:nvPr/>
          </p:nvSpPr>
          <p:spPr>
            <a:xfrm>
              <a:off x="1179382" y="1394077"/>
              <a:ext cx="24664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/>
                <a:t>Constant discounting reduces excitement and increases scepticism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2DD2A-8D61-FA83-D0D8-51CE643809BA}"/>
              </a:ext>
            </a:extLst>
          </p:cNvPr>
          <p:cNvGrpSpPr/>
          <p:nvPr/>
        </p:nvGrpSpPr>
        <p:grpSpPr>
          <a:xfrm>
            <a:off x="7469892" y="4186274"/>
            <a:ext cx="2949741" cy="1169551"/>
            <a:chOff x="1082842" y="870857"/>
            <a:chExt cx="2563014" cy="11695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470B10C-C28F-C391-70E8-F020900EF80A}"/>
                </a:ext>
              </a:extLst>
            </p:cNvPr>
            <p:cNvSpPr txBox="1"/>
            <p:nvPr/>
          </p:nvSpPr>
          <p:spPr>
            <a:xfrm>
              <a:off x="1082842" y="870857"/>
              <a:ext cx="2382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400" b="1" dirty="0">
                  <a:latin typeface="Arial" panose="020B0604020202020204" pitchFamily="34" charset="0"/>
                </a:rPr>
                <a:t>Reassurance matters after </a:t>
              </a:r>
            </a:p>
            <a:p>
              <a:pPr algn="ctr"/>
              <a:r>
                <a:rPr lang="en-US" altLang="en-US" sz="1400" b="1" dirty="0">
                  <a:latin typeface="Arial" panose="020B0604020202020204" pitchFamily="34" charset="0"/>
                </a:rPr>
                <a:t>the purchase</a:t>
              </a:r>
              <a:endParaRPr 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BAD610-8673-7D38-9B86-33492EAB079C}"/>
                </a:ext>
              </a:extLst>
            </p:cNvPr>
            <p:cNvSpPr txBox="1"/>
            <p:nvPr/>
          </p:nvSpPr>
          <p:spPr>
            <a:xfrm>
              <a:off x="1179382" y="1394077"/>
              <a:ext cx="24664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/>
                <a:t>Clear returns, warranties, and support shape satisfaction beyond checkout</a:t>
              </a:r>
              <a:endParaRPr lang="en-US" sz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FE5D524-D229-EA15-8F02-8D84EC44353E}"/>
              </a:ext>
            </a:extLst>
          </p:cNvPr>
          <p:cNvGrpSpPr/>
          <p:nvPr/>
        </p:nvGrpSpPr>
        <p:grpSpPr>
          <a:xfrm>
            <a:off x="7494028" y="5412039"/>
            <a:ext cx="2901470" cy="965007"/>
            <a:chOff x="1082842" y="955081"/>
            <a:chExt cx="2563014" cy="96500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C47ADAD-9B87-B793-3353-2F13B53377C4}"/>
                </a:ext>
              </a:extLst>
            </p:cNvPr>
            <p:cNvSpPr txBox="1"/>
            <p:nvPr/>
          </p:nvSpPr>
          <p:spPr>
            <a:xfrm>
              <a:off x="1082842" y="955081"/>
              <a:ext cx="24664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/>
                <a:t>Value is multidimensional</a:t>
              </a:r>
              <a:endParaRPr lang="en-US" sz="1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8E38B2C-9511-648F-498F-21CCC858157E}"/>
                </a:ext>
              </a:extLst>
            </p:cNvPr>
            <p:cNvSpPr txBox="1"/>
            <p:nvPr/>
          </p:nvSpPr>
          <p:spPr>
            <a:xfrm>
              <a:off x="1179382" y="1273757"/>
              <a:ext cx="24664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/>
                <a:t>Longevity, service, and peace of mind define a “good deal” as much as price</a:t>
              </a:r>
              <a:endParaRPr lang="en-US" sz="1200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AF3E0FD-0AF9-76B2-578D-55907B702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1345365"/>
            <a:ext cx="5080000" cy="279400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CD4FA10D-EBD9-ACFF-E232-7529440C3E73}"/>
              </a:ext>
            </a:extLst>
          </p:cNvPr>
          <p:cNvSpPr/>
          <p:nvPr/>
        </p:nvSpPr>
        <p:spPr>
          <a:xfrm>
            <a:off x="4863750" y="2794579"/>
            <a:ext cx="2129590" cy="206082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How does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our audience choose?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5B10E2D-4CA3-E4A2-1751-A38882CA5BA8}"/>
              </a:ext>
            </a:extLst>
          </p:cNvPr>
          <p:cNvCxnSpPr>
            <a:cxnSpLocks/>
          </p:cNvCxnSpPr>
          <p:nvPr/>
        </p:nvCxnSpPr>
        <p:spPr>
          <a:xfrm>
            <a:off x="3992511" y="2072468"/>
            <a:ext cx="1484479" cy="109511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B40B30-FB11-BC27-8CB7-A8AC130EC77C}"/>
              </a:ext>
            </a:extLst>
          </p:cNvPr>
          <p:cNvCxnSpPr>
            <a:cxnSpLocks/>
          </p:cNvCxnSpPr>
          <p:nvPr/>
        </p:nvCxnSpPr>
        <p:spPr>
          <a:xfrm>
            <a:off x="4306656" y="3429000"/>
            <a:ext cx="650355" cy="16515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B422B2-6229-7533-82B4-1E1C4E252C85}"/>
              </a:ext>
            </a:extLst>
          </p:cNvPr>
          <p:cNvCxnSpPr>
            <a:cxnSpLocks/>
          </p:cNvCxnSpPr>
          <p:nvPr/>
        </p:nvCxnSpPr>
        <p:spPr>
          <a:xfrm flipV="1">
            <a:off x="4000598" y="4228068"/>
            <a:ext cx="986146" cy="6273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74C46CA-3A6F-F6D5-C154-7DBC2966F4AA}"/>
              </a:ext>
            </a:extLst>
          </p:cNvPr>
          <p:cNvCxnSpPr>
            <a:cxnSpLocks/>
          </p:cNvCxnSpPr>
          <p:nvPr/>
        </p:nvCxnSpPr>
        <p:spPr>
          <a:xfrm flipV="1">
            <a:off x="4241150" y="4643277"/>
            <a:ext cx="1051382" cy="118621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A486FE5-303D-0A07-46F3-178FA59A55A5}"/>
              </a:ext>
            </a:extLst>
          </p:cNvPr>
          <p:cNvCxnSpPr>
            <a:cxnSpLocks/>
          </p:cNvCxnSpPr>
          <p:nvPr/>
        </p:nvCxnSpPr>
        <p:spPr>
          <a:xfrm flipH="1">
            <a:off x="6544930" y="2225790"/>
            <a:ext cx="1071010" cy="8898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0D7B91B-FB1C-6AA0-240D-E4F6E8E84A2F}"/>
              </a:ext>
            </a:extLst>
          </p:cNvPr>
          <p:cNvCxnSpPr>
            <a:cxnSpLocks/>
          </p:cNvCxnSpPr>
          <p:nvPr/>
        </p:nvCxnSpPr>
        <p:spPr>
          <a:xfrm flipH="1" flipV="1">
            <a:off x="6478122" y="4696772"/>
            <a:ext cx="1263463" cy="10339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D73FC0C-2CDC-D220-42FB-1576A084670D}"/>
              </a:ext>
            </a:extLst>
          </p:cNvPr>
          <p:cNvCxnSpPr>
            <a:cxnSpLocks/>
          </p:cNvCxnSpPr>
          <p:nvPr/>
        </p:nvCxnSpPr>
        <p:spPr>
          <a:xfrm flipH="1" flipV="1">
            <a:off x="6719191" y="4050441"/>
            <a:ext cx="981441" cy="49129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25DED64-66ED-1C1B-F720-436FA3ED102A}"/>
              </a:ext>
            </a:extLst>
          </p:cNvPr>
          <p:cNvCxnSpPr>
            <a:cxnSpLocks/>
          </p:cNvCxnSpPr>
          <p:nvPr/>
        </p:nvCxnSpPr>
        <p:spPr>
          <a:xfrm flipH="1">
            <a:off x="6856266" y="3371934"/>
            <a:ext cx="707767" cy="2887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Footer Placeholder 70">
            <a:extLst>
              <a:ext uri="{FF2B5EF4-FFF2-40B4-BE49-F238E27FC236}">
                <a16:creationId xmlns:a16="http://schemas.microsoft.com/office/drawing/2014/main" id="{4B537A77-5559-49A5-A118-E50CAAFB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48061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8F231-4F64-5FEA-700B-FDB5E8BC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E0814"/>
                </a:solidFill>
              </a:rPr>
              <a:t>Consumer Demographics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5EE113D-35D4-5346-72B7-220D58FAE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349183"/>
              </p:ext>
            </p:extLst>
          </p:nvPr>
        </p:nvGraphicFramePr>
        <p:xfrm>
          <a:off x="888910" y="2228087"/>
          <a:ext cx="10414182" cy="3948878"/>
        </p:xfrm>
        <a:graphic>
          <a:graphicData uri="http://schemas.openxmlformats.org/drawingml/2006/table">
            <a:tbl>
              <a:tblPr firstRow="1" bandRow="1"/>
              <a:tblGrid>
                <a:gridCol w="1810174">
                  <a:extLst>
                    <a:ext uri="{9D8B030D-6E8A-4147-A177-3AD203B41FA5}">
                      <a16:colId xmlns:a16="http://schemas.microsoft.com/office/drawing/2014/main" val="1694064387"/>
                    </a:ext>
                  </a:extLst>
                </a:gridCol>
                <a:gridCol w="3944854">
                  <a:extLst>
                    <a:ext uri="{9D8B030D-6E8A-4147-A177-3AD203B41FA5}">
                      <a16:colId xmlns:a16="http://schemas.microsoft.com/office/drawing/2014/main" val="3332458741"/>
                    </a:ext>
                  </a:extLst>
                </a:gridCol>
                <a:gridCol w="2818618">
                  <a:extLst>
                    <a:ext uri="{9D8B030D-6E8A-4147-A177-3AD203B41FA5}">
                      <a16:colId xmlns:a16="http://schemas.microsoft.com/office/drawing/2014/main" val="4253318696"/>
                    </a:ext>
                  </a:extLst>
                </a:gridCol>
                <a:gridCol w="1840536">
                  <a:extLst>
                    <a:ext uri="{9D8B030D-6E8A-4147-A177-3AD203B41FA5}">
                      <a16:colId xmlns:a16="http://schemas.microsoft.com/office/drawing/2014/main" val="3470822684"/>
                    </a:ext>
                  </a:extLst>
                </a:gridCol>
              </a:tblGrid>
              <a:tr h="2702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Dimension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What the data shows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Implication for the category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Sources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27730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Age</a:t>
                      </a:r>
                      <a:endParaRPr lang="en-IN" sz="1200"/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Online electronics spend is highest among </a:t>
                      </a:r>
                      <a:r>
                        <a:rPr lang="en-IN" sz="1200" b="1"/>
                        <a:t>30–49 year olds</a:t>
                      </a:r>
                      <a:r>
                        <a:rPr lang="en-IN" sz="1200"/>
                        <a:t>. Internet usage is near universal for </a:t>
                      </a:r>
                      <a:r>
                        <a:rPr lang="en-IN" sz="1200" b="1"/>
                        <a:t>18–49</a:t>
                      </a:r>
                      <a:r>
                        <a:rPr lang="en-IN" sz="1200"/>
                        <a:t>, and still high among </a:t>
                      </a:r>
                      <a:r>
                        <a:rPr lang="en-IN" sz="1200" b="1"/>
                        <a:t>50+</a:t>
                      </a:r>
                      <a:r>
                        <a:rPr lang="en-IN" sz="1200"/>
                        <a:t>. MediaMarkt online customers mainly fall between </a:t>
                      </a:r>
                      <a:r>
                        <a:rPr lang="en-IN" sz="1200" b="1"/>
                        <a:t>25–54</a:t>
                      </a:r>
                      <a:r>
                        <a:rPr lang="en-IN" sz="1200"/>
                        <a:t>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Core electronics buyer is digitally active and working age, with strong participation from older consumers with high purchasing power.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GTAI, ECDB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218338"/>
                  </a:ext>
                </a:extLst>
              </a:tr>
              <a:tr h="594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Income</a:t>
                      </a:r>
                      <a:endParaRPr lang="en-IN" sz="1200"/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MediaMarkt attracts consumers across all income levels. About </a:t>
                      </a:r>
                      <a:r>
                        <a:rPr lang="en-IN" sz="1200" b="1"/>
                        <a:t>32 percent</a:t>
                      </a:r>
                      <a:r>
                        <a:rPr lang="en-IN" sz="1200"/>
                        <a:t> are in the low-income segment, with the majority in </a:t>
                      </a:r>
                      <a:r>
                        <a:rPr lang="en-IN" sz="1200" b="1"/>
                        <a:t>medium and high income</a:t>
                      </a:r>
                      <a:r>
                        <a:rPr lang="en-IN" sz="1200"/>
                        <a:t> brackets.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The category is value focused, not low income only. Price sensitivity exists alongside willingness to spend.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ECDB, Research and Markets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407101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Education and digital affinity</a:t>
                      </a:r>
                      <a:endParaRPr lang="en-IN" sz="1200"/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Online shopping penetration rises with education, reaching nearly </a:t>
                      </a:r>
                      <a:r>
                        <a:rPr lang="en-IN" sz="1200" b="1"/>
                        <a:t>90 percent</a:t>
                      </a:r>
                      <a:r>
                        <a:rPr lang="en-IN" sz="1200"/>
                        <a:t> among highly educated consumers. Electronics is one of the </a:t>
                      </a:r>
                      <a:r>
                        <a:rPr lang="en-IN" sz="1200" b="1"/>
                        <a:t>highest-spend online categories</a:t>
                      </a:r>
                      <a:r>
                        <a:rPr lang="en-IN" sz="1200"/>
                        <a:t>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Consumers are digitally confident and comfortable researching, comparing, and purchasing online.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Eurostat, GTAI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453744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Household and life stage</a:t>
                      </a:r>
                      <a:endParaRPr lang="en-IN" sz="1200"/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Device ownership is extremely high in family households. In homes with adolescents, </a:t>
                      </a:r>
                      <a:r>
                        <a:rPr lang="en-IN" sz="1200" b="1"/>
                        <a:t>almost all households</a:t>
                      </a:r>
                      <a:r>
                        <a:rPr lang="en-IN" sz="1200"/>
                        <a:t> own smartphones and computers. Strong demand also comes from </a:t>
                      </a:r>
                      <a:r>
                        <a:rPr lang="en-IN" sz="1200" b="1"/>
                        <a:t>Gen X and Baby Boomers</a:t>
                      </a:r>
                      <a:r>
                        <a:rPr lang="en-IN" sz="1200"/>
                        <a:t> upgrading devices.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Demand spans families and older households, not just young tech-focused consumers.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BCG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133545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Urban vs national</a:t>
                      </a:r>
                      <a:endParaRPr lang="en-IN" sz="1200"/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Germany is the </a:t>
                      </a:r>
                      <a:r>
                        <a:rPr lang="en-IN" sz="1200" b="1"/>
                        <a:t>largest online shopping market in Europe</a:t>
                      </a:r>
                      <a:r>
                        <a:rPr lang="en-IN" sz="1200"/>
                        <a:t>. Electronics is one of the </a:t>
                      </a:r>
                      <a:r>
                        <a:rPr lang="en-IN" sz="1200" b="1"/>
                        <a:t>top two online spending categories</a:t>
                      </a:r>
                      <a:r>
                        <a:rPr lang="en-IN" sz="1200"/>
                        <a:t>, with higher demand in </a:t>
                      </a:r>
                      <a:r>
                        <a:rPr lang="en-IN" sz="1200" b="1"/>
                        <a:t>urban and suburban areas</a:t>
                      </a:r>
                      <a:r>
                        <a:rPr lang="en-IN" sz="1200"/>
                        <a:t>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Electronics buyers are nationwide, slightly more urban and suburban, with high purchasing power.</a:t>
                      </a:r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GTAI, </a:t>
                      </a:r>
                      <a:r>
                        <a:rPr lang="en-IN" sz="1200" dirty="0" err="1"/>
                        <a:t>MarketSparks</a:t>
                      </a:r>
                      <a:endParaRPr lang="en-IN" sz="1200" dirty="0"/>
                    </a:p>
                  </a:txBody>
                  <a:tcPr marL="28614" marR="28614" marT="14306" marB="14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97629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A14C88-AAA1-7267-AEBD-740514F6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89380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EAED6-3BC8-5E3E-EA19-AEC00815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dirty="0">
                <a:solidFill>
                  <a:srgbClr val="FF0000"/>
                </a:solidFill>
              </a:rPr>
              <a:t>Social Listening Analysis </a:t>
            </a:r>
            <a:r>
              <a:rPr lang="en-US" sz="4600" dirty="0"/>
              <a:t>| </a:t>
            </a:r>
            <a:r>
              <a:rPr lang="en-US" sz="4600" dirty="0">
                <a:hlinkClick r:id="rId2"/>
              </a:rPr>
              <a:t>Documentation</a:t>
            </a:r>
            <a:endParaRPr lang="en-US" sz="46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4CF6A7-B3C1-6A15-320A-94D030457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877847"/>
              </p:ext>
            </p:extLst>
          </p:nvPr>
        </p:nvGraphicFramePr>
        <p:xfrm>
          <a:off x="838200" y="2300752"/>
          <a:ext cx="10515601" cy="3803552"/>
        </p:xfrm>
        <a:graphic>
          <a:graphicData uri="http://schemas.openxmlformats.org/drawingml/2006/table">
            <a:tbl>
              <a:tblPr firstRow="1" bandRow="1"/>
              <a:tblGrid>
                <a:gridCol w="530257">
                  <a:extLst>
                    <a:ext uri="{9D8B030D-6E8A-4147-A177-3AD203B41FA5}">
                      <a16:colId xmlns:a16="http://schemas.microsoft.com/office/drawing/2014/main" val="148510917"/>
                    </a:ext>
                  </a:extLst>
                </a:gridCol>
                <a:gridCol w="2706882">
                  <a:extLst>
                    <a:ext uri="{9D8B030D-6E8A-4147-A177-3AD203B41FA5}">
                      <a16:colId xmlns:a16="http://schemas.microsoft.com/office/drawing/2014/main" val="1405877836"/>
                    </a:ext>
                  </a:extLst>
                </a:gridCol>
                <a:gridCol w="1973192">
                  <a:extLst>
                    <a:ext uri="{9D8B030D-6E8A-4147-A177-3AD203B41FA5}">
                      <a16:colId xmlns:a16="http://schemas.microsoft.com/office/drawing/2014/main" val="317275246"/>
                    </a:ext>
                  </a:extLst>
                </a:gridCol>
                <a:gridCol w="3108696">
                  <a:extLst>
                    <a:ext uri="{9D8B030D-6E8A-4147-A177-3AD203B41FA5}">
                      <a16:colId xmlns:a16="http://schemas.microsoft.com/office/drawing/2014/main" val="984772438"/>
                    </a:ext>
                  </a:extLst>
                </a:gridCol>
                <a:gridCol w="2196574">
                  <a:extLst>
                    <a:ext uri="{9D8B030D-6E8A-4147-A177-3AD203B41FA5}">
                      <a16:colId xmlns:a16="http://schemas.microsoft.com/office/drawing/2014/main" val="4101707169"/>
                    </a:ext>
                  </a:extLst>
                </a:gridCol>
              </a:tblGrid>
              <a:tr h="27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Step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Process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Tool or algorithm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What it does 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Why?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791608"/>
                  </a:ext>
                </a:extLst>
              </a:tr>
              <a:tr h="591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Created a dataset of brand mentions across platforms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Simulated data generation</a:t>
                      </a:r>
                      <a:r>
                        <a:rPr lang="en-IN" sz="1100"/>
                        <a:t> (templates + weighted sampling)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Simulates realistic social media posts with controlled themes and sentiment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Allows pattern discovery without access to real social listening tools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50499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Cleaned and standardised the text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Text preprocessing (regex)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Removes noise and inconsistencies in the text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Improves reliability of downstream analysis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591808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Measured how each post feels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VADER sentiment analysis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Assigns a sentiment score from negative to positive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Shows emotional response, not just topic volume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66679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Converted text into numerical meaning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SentenceTransformer (semantic embeddings)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Represents each sentence by its meaning, not just keywords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Enables grouping by semantic similarity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907682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Grouped similar posts into themes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KMeans clustering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Automatically clusters mentions into topic groups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Reveals dominant conversation themes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232638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Named each theme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TF-IDF keyword extraction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Identifies the most distinctive words per cluster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Makes clusters understandable for non-technical audiences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003549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Ranked themes by importance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Volume + engagement + sentiment intensity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Prioritises themes that matter most to people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Focuses insight on strategic relevance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949280"/>
                  </a:ext>
                </a:extLst>
              </a:tr>
              <a:tr h="41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Exported results for presentation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CSV outputs + charts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Saves tables and visuals for use in slides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Makes insights easy to communicate</a:t>
                      </a:r>
                    </a:p>
                  </a:txBody>
                  <a:tcPr marL="40209" marR="40209" marT="20104" marB="201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34779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ED7C-AF5B-F928-8B10-A062C2BE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367158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7AF95-B995-2C4E-8380-26307163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What Matters To The Customers?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B4B3A-22A9-400C-D5E7-FB84CD2DA41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Most social conversation in consumer electronics is focused on price, deals, and convenience, with far less volume around service, guidance, and after-sales support.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This highlights where attention in the category is concentrated and how transactional themes dominate what people talk about.</a:t>
            </a:r>
          </a:p>
        </p:txBody>
      </p:sp>
      <p:pic>
        <p:nvPicPr>
          <p:cNvPr id="5" name="Content Placeholder 4" descr="A pie chart with text on it&#10;&#10;AI-generated content may be incorrect.">
            <a:extLst>
              <a:ext uri="{FF2B5EF4-FFF2-40B4-BE49-F238E27FC236}">
                <a16:creationId xmlns:a16="http://schemas.microsoft.com/office/drawing/2014/main" id="{83188A90-0C15-3700-747B-347A63B00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00513"/>
            <a:ext cx="6903720" cy="505697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E28D22D-8BE0-2F73-C033-2286748D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823484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8A8E-D173-7C89-619C-2D291ED5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How Strongly Do They Feel About It?</a:t>
            </a:r>
          </a:p>
        </p:txBody>
      </p:sp>
      <p:pic>
        <p:nvPicPr>
          <p:cNvPr id="5" name="Content Placeholder 4" descr="A graph with blue bars&#10;&#10;AI-generated content may be incorrect.">
            <a:extLst>
              <a:ext uri="{FF2B5EF4-FFF2-40B4-BE49-F238E27FC236}">
                <a16:creationId xmlns:a16="http://schemas.microsoft.com/office/drawing/2014/main" id="{918A6763-F4F5-8DD5-0EAB-1C7418105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089" y="1847307"/>
            <a:ext cx="5194240" cy="46767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134AD-D818-DD2A-73CC-D410BC9C6293}"/>
              </a:ext>
            </a:extLst>
          </p:cNvPr>
          <p:cNvSpPr txBox="1"/>
          <p:nvPr/>
        </p:nvSpPr>
        <p:spPr>
          <a:xfrm>
            <a:off x="8121316" y="2063877"/>
            <a:ext cx="27311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We see that guidance, help, and after-sales support generate the strongest positive sentiment, while returns and service issues trigger the most negative emotion, with price-related themes sitting in between. </a:t>
            </a:r>
          </a:p>
          <a:p>
            <a:endParaRPr lang="en-IN" sz="1400" dirty="0"/>
          </a:p>
          <a:p>
            <a:r>
              <a:rPr lang="en-IN" sz="1400" dirty="0"/>
              <a:t>This separates what gets talked about the most from what people actually feel most strongly about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6BAC1-BDCA-F54F-973C-D12FCC62AC29}"/>
              </a:ext>
            </a:extLst>
          </p:cNvPr>
          <p:cNvSpPr txBox="1"/>
          <p:nvPr/>
        </p:nvSpPr>
        <p:spPr>
          <a:xfrm>
            <a:off x="8121316" y="4728413"/>
            <a:ext cx="3373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Together, the charts show that </a:t>
            </a:r>
            <a:r>
              <a:rPr lang="en-IN" b="1" dirty="0">
                <a:solidFill>
                  <a:schemeClr val="accent2"/>
                </a:solidFill>
              </a:rPr>
              <a:t>while price dominates attention, reassurance and support drive emotional response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965B8-94E2-1694-EBDF-98D95C2DE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261141"/>
            <a:ext cx="5080000" cy="2794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C66A7D5-950F-6EBA-FF69-88D6D600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1691894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1A018-211E-7E2F-4E66-FB3D65BB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Consumer Insight: Value Beyond “Price”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084902-F8C9-BFE2-7101-97C6D5C0F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005701"/>
              </p:ext>
            </p:extLst>
          </p:nvPr>
        </p:nvGraphicFramePr>
        <p:xfrm>
          <a:off x="830179" y="2633472"/>
          <a:ext cx="10718342" cy="3586354"/>
        </p:xfrm>
        <a:graphic>
          <a:graphicData uri="http://schemas.openxmlformats.org/drawingml/2006/table">
            <a:tbl>
              <a:tblPr/>
              <a:tblGrid>
                <a:gridCol w="2083562">
                  <a:extLst>
                    <a:ext uri="{9D8B030D-6E8A-4147-A177-3AD203B41FA5}">
                      <a16:colId xmlns:a16="http://schemas.microsoft.com/office/drawing/2014/main" val="393638013"/>
                    </a:ext>
                  </a:extLst>
                </a:gridCol>
                <a:gridCol w="2235646">
                  <a:extLst>
                    <a:ext uri="{9D8B030D-6E8A-4147-A177-3AD203B41FA5}">
                      <a16:colId xmlns:a16="http://schemas.microsoft.com/office/drawing/2014/main" val="4282865499"/>
                    </a:ext>
                  </a:extLst>
                </a:gridCol>
                <a:gridCol w="2143546">
                  <a:extLst>
                    <a:ext uri="{9D8B030D-6E8A-4147-A177-3AD203B41FA5}">
                      <a16:colId xmlns:a16="http://schemas.microsoft.com/office/drawing/2014/main" val="3263017488"/>
                    </a:ext>
                  </a:extLst>
                </a:gridCol>
                <a:gridCol w="2094042">
                  <a:extLst>
                    <a:ext uri="{9D8B030D-6E8A-4147-A177-3AD203B41FA5}">
                      <a16:colId xmlns:a16="http://schemas.microsoft.com/office/drawing/2014/main" val="2877289012"/>
                    </a:ext>
                  </a:extLst>
                </a:gridCol>
                <a:gridCol w="2161546">
                  <a:extLst>
                    <a:ext uri="{9D8B030D-6E8A-4147-A177-3AD203B41FA5}">
                      <a16:colId xmlns:a16="http://schemas.microsoft.com/office/drawing/2014/main" val="3825154465"/>
                    </a:ext>
                  </a:extLst>
                </a:gridCol>
              </a:tblGrid>
              <a:tr h="55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Market and category reality</a:t>
                      </a:r>
                      <a:endParaRPr lang="en-IN" sz="1500" dirty="0"/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Market and category consequence</a:t>
                      </a:r>
                      <a:endParaRPr lang="en-IN" sz="1500"/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Consumer behaviour insight</a:t>
                      </a:r>
                      <a:endParaRPr lang="en-IN" sz="1500"/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Consumer tension</a:t>
                      </a:r>
                      <a:endParaRPr lang="en-IN" sz="1500"/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solidFill>
                            <a:schemeClr val="accent2"/>
                          </a:solidFill>
                        </a:rPr>
                        <a:t>North star insight</a:t>
                      </a:r>
                      <a:endParaRPr lang="en-IN" sz="1500" dirty="0">
                        <a:solidFill>
                          <a:schemeClr val="accent2"/>
                        </a:solidFill>
                      </a:endParaRPr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774248"/>
                  </a:ext>
                </a:extLst>
              </a:tr>
              <a:tr h="3029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Price dominates consumer electronics, with Amazon setting the benchmark for what a good deal looks like, especially during Black November.</a:t>
                      </a:r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As promotions intensify, urgency and discount-led messaging flatten differentiation and push the category into reactive price competition.</a:t>
                      </a:r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German consumer electronics buyers are deliberate, research-driven, and cautious with high-value products that are meant to last and may require setup, service, or repair.</a:t>
                      </a:r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Consumers are pushed to buy quickly on price, but feel uneasy making complex, long-term decisions without guidance, reassurance, and post-purchase support.</a:t>
                      </a:r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The gap lies between speed-driven price messaging and the consumer’s need for confidence over time, a space </a:t>
                      </a:r>
                      <a:r>
                        <a:rPr lang="en-IN" sz="1500" dirty="0" err="1"/>
                        <a:t>MediaMarkt</a:t>
                      </a:r>
                      <a:r>
                        <a:rPr lang="en-IN" sz="1500" dirty="0"/>
                        <a:t> can own by </a:t>
                      </a:r>
                      <a:r>
                        <a:rPr lang="en-IN" sz="1500" b="1" dirty="0">
                          <a:solidFill>
                            <a:schemeClr val="accent2"/>
                          </a:solidFill>
                        </a:rPr>
                        <a:t>supporting customers not just at purchase, but throughout ownership</a:t>
                      </a:r>
                    </a:p>
                  </a:txBody>
                  <a:tcPr marL="75509" marR="75509" marT="37754" marB="37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440447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A482D-8C60-0C10-2A66-FD8D8AB1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30704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F3366-0E7D-C7A0-24F5-954C9DE5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Brand</a:t>
            </a:r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Media Markt Logo PNG Vector">
            <a:extLst>
              <a:ext uri="{FF2B5EF4-FFF2-40B4-BE49-F238E27FC236}">
                <a16:creationId xmlns:a16="http://schemas.microsoft.com/office/drawing/2014/main" id="{2568A52E-F7BB-E6D7-C2AF-14253CFE8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400" y="640080"/>
            <a:ext cx="5550408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80CCF-C37B-FA02-ECA9-0696CC8E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417364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32CD6-609F-2AFB-5776-80247DBB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Brand Comparison: </a:t>
            </a:r>
            <a:r>
              <a:rPr lang="en-US" sz="46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MediaMarkt</a:t>
            </a:r>
            <a:r>
              <a:rPr lang="en-US" sz="46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vs Amazon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4E8335-EA90-4A23-0DC7-DE6EF938F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092672"/>
              </p:ext>
            </p:extLst>
          </p:nvPr>
        </p:nvGraphicFramePr>
        <p:xfrm>
          <a:off x="638880" y="2633472"/>
          <a:ext cx="10909640" cy="3586355"/>
        </p:xfrm>
        <a:graphic>
          <a:graphicData uri="http://schemas.openxmlformats.org/drawingml/2006/table">
            <a:tbl>
              <a:tblPr firstRow="1" bandRow="1"/>
              <a:tblGrid>
                <a:gridCol w="2376766">
                  <a:extLst>
                    <a:ext uri="{9D8B030D-6E8A-4147-A177-3AD203B41FA5}">
                      <a16:colId xmlns:a16="http://schemas.microsoft.com/office/drawing/2014/main" val="517239816"/>
                    </a:ext>
                  </a:extLst>
                </a:gridCol>
                <a:gridCol w="4161681">
                  <a:extLst>
                    <a:ext uri="{9D8B030D-6E8A-4147-A177-3AD203B41FA5}">
                      <a16:colId xmlns:a16="http://schemas.microsoft.com/office/drawing/2014/main" val="3952175372"/>
                    </a:ext>
                  </a:extLst>
                </a:gridCol>
                <a:gridCol w="4371193">
                  <a:extLst>
                    <a:ext uri="{9D8B030D-6E8A-4147-A177-3AD203B41FA5}">
                      <a16:colId xmlns:a16="http://schemas.microsoft.com/office/drawing/2014/main" val="1627526868"/>
                    </a:ext>
                  </a:extLst>
                </a:gridCol>
              </a:tblGrid>
              <a:tr h="341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Dimension</a:t>
                      </a:r>
                    </a:p>
                  </a:txBody>
                  <a:tcPr marL="50805" marR="50805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MediaMarkt</a:t>
                      </a:r>
                    </a:p>
                  </a:txBody>
                  <a:tcPr marL="50805" marR="50805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Amazon</a:t>
                      </a:r>
                    </a:p>
                  </a:txBody>
                  <a:tcPr marL="50805" marR="50805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024819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Role in the category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Established category leader with a specialist electronics focus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Widely seen by consumers as a reference point when judging whether a deal is good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934792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What consumers associate it with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Expertise, guidance, and hands-on support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Strong prices, broad choice, and fast availability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688136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Relationship with price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Competitive on price, but not positioned as the cheapest option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Often perceived by consumers as offering good value and competitive pricing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065329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Delivery experience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Delivery combined with store pickup and in-person support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fast and reliable delivery, especially for online purchases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029813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Buying journey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and confidence-driven, especially for complex products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Largely self-directed and efficiency-driven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83705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Physical presence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Dense nationwide store network with face-to-face interaction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Primarily online, with limited physical interaction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987305"/>
                  </a:ext>
                </a:extLst>
              </a:tr>
              <a:tr h="42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After sales experience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In-store returns, repairs, setup help, and personal assistance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Centralised and remote returns and support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069897"/>
                  </a:ext>
                </a:extLst>
              </a:tr>
              <a:tr h="255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Overall brand perception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Knowledgeable, approachable, and service-oriented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Convenient, efficient, and dependable</a:t>
                      </a:r>
                    </a:p>
                  </a:txBody>
                  <a:tcPr marL="124838" marR="124838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21110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7A7B-9CE2-0D52-382F-B6FD91B0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306704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45C9A-B91E-B1AE-63AF-B9E9FCEB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What Distinguishes </a:t>
            </a:r>
            <a:r>
              <a:rPr lang="en-US" sz="30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MediaMarkt</a:t>
            </a:r>
            <a:endParaRPr lang="en-US" sz="30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BB771-1F6E-6E35-F242-C3A20347F746}"/>
              </a:ext>
            </a:extLst>
          </p:cNvPr>
          <p:cNvSpPr txBox="1"/>
          <p:nvPr/>
        </p:nvSpPr>
        <p:spPr>
          <a:xfrm>
            <a:off x="4654294" y="502920"/>
            <a:ext cx="7172747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These are real problems!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900" dirty="0"/>
              <a:t>When buying a TV, people want to see the size, picture quality, and imagine how it fits in their home.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900" dirty="0"/>
              <a:t>When a washing machine breaks, many want to know if it can be repaired before buying a new one.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900" dirty="0"/>
              <a:t>For expensive electronics, people want to ask questions and feel reassured before deciding.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900" dirty="0"/>
              <a:t>Who will install my dishwasher?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9C9123-B87F-52F4-7132-C4602A7E5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884393"/>
              </p:ext>
            </p:extLst>
          </p:nvPr>
        </p:nvGraphicFramePr>
        <p:xfrm>
          <a:off x="630936" y="2293182"/>
          <a:ext cx="10917938" cy="3954860"/>
        </p:xfrm>
        <a:graphic>
          <a:graphicData uri="http://schemas.openxmlformats.org/drawingml/2006/table">
            <a:tbl>
              <a:tblPr firstRow="1" bandRow="1"/>
              <a:tblGrid>
                <a:gridCol w="2192932">
                  <a:extLst>
                    <a:ext uri="{9D8B030D-6E8A-4147-A177-3AD203B41FA5}">
                      <a16:colId xmlns:a16="http://schemas.microsoft.com/office/drawing/2014/main" val="3634348871"/>
                    </a:ext>
                  </a:extLst>
                </a:gridCol>
                <a:gridCol w="2069017">
                  <a:extLst>
                    <a:ext uri="{9D8B030D-6E8A-4147-A177-3AD203B41FA5}">
                      <a16:colId xmlns:a16="http://schemas.microsoft.com/office/drawing/2014/main" val="3987190812"/>
                    </a:ext>
                  </a:extLst>
                </a:gridCol>
                <a:gridCol w="2075112">
                  <a:extLst>
                    <a:ext uri="{9D8B030D-6E8A-4147-A177-3AD203B41FA5}">
                      <a16:colId xmlns:a16="http://schemas.microsoft.com/office/drawing/2014/main" val="413813080"/>
                    </a:ext>
                  </a:extLst>
                </a:gridCol>
                <a:gridCol w="2278250">
                  <a:extLst>
                    <a:ext uri="{9D8B030D-6E8A-4147-A177-3AD203B41FA5}">
                      <a16:colId xmlns:a16="http://schemas.microsoft.com/office/drawing/2014/main" val="1625712234"/>
                    </a:ext>
                  </a:extLst>
                </a:gridCol>
                <a:gridCol w="2302627">
                  <a:extLst>
                    <a:ext uri="{9D8B030D-6E8A-4147-A177-3AD203B41FA5}">
                      <a16:colId xmlns:a16="http://schemas.microsoft.com/office/drawing/2014/main" val="3931154263"/>
                    </a:ext>
                  </a:extLst>
                </a:gridCol>
              </a:tblGrid>
              <a:tr h="982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Assisted buying</a:t>
                      </a:r>
                    </a:p>
                  </a:txBody>
                  <a:tcPr marL="209140" marR="209140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Online guidance</a:t>
                      </a:r>
                    </a:p>
                  </a:txBody>
                  <a:tcPr marL="209140" marR="209140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Online to offline continuity</a:t>
                      </a:r>
                    </a:p>
                  </a:txBody>
                  <a:tcPr marL="209140" marR="209140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Service and repair</a:t>
                      </a:r>
                    </a:p>
                  </a:txBody>
                  <a:tcPr marL="209140" marR="209140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Confidence over speed</a:t>
                      </a:r>
                    </a:p>
                  </a:txBody>
                  <a:tcPr marL="209140" marR="209140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486877"/>
                  </a:ext>
                </a:extLst>
              </a:tr>
              <a:tr h="297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err="1"/>
                        <a:t>MediaMarkt</a:t>
                      </a:r>
                      <a:r>
                        <a:rPr lang="en-IN" sz="1500"/>
                        <a:t> is built around helping customers choose, offering advice and support rather than pure self-service browsing.</a:t>
                      </a:r>
                    </a:p>
                  </a:txBody>
                  <a:tcPr marL="393404" marR="393404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Digital tools such as live chat, product advisors, buying guides, and comparison tools mirror the role of in-store staff for online shoppers.</a:t>
                      </a:r>
                    </a:p>
                  </a:txBody>
                  <a:tcPr marL="393404" marR="393404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Customers can research online, get advice digitally, and continue the journey in-store through pickup, returns, or further support.</a:t>
                      </a:r>
                    </a:p>
                  </a:txBody>
                  <a:tcPr marL="393404" marR="393404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Setup help, repairs, extended warranties beyond the manufacturer/seller’s </a:t>
                      </a:r>
                      <a:r>
                        <a:rPr lang="en-IN" sz="1500" dirty="0" err="1"/>
                        <a:t>warrenty</a:t>
                      </a:r>
                      <a:r>
                        <a:rPr lang="en-IN" sz="1500" dirty="0"/>
                        <a:t>, and in-store returns are integrated into the experience beyond the initial purchase.</a:t>
                      </a:r>
                    </a:p>
                  </a:txBody>
                  <a:tcPr marL="393404" marR="393404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The brand focuses on helping customers feel sure they made the right choice, especially for complex and high-value electronics.</a:t>
                      </a:r>
                    </a:p>
                  </a:txBody>
                  <a:tcPr marL="393404" marR="393404" marT="58504" marB="58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517289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B17DF8-930F-0ABE-E21D-962D4560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713388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188FD-E2BB-838A-6650-68012EB6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MediaMarkt</a:t>
            </a:r>
            <a:r>
              <a:rPr lang="en-US" sz="3200" dirty="0">
                <a:solidFill>
                  <a:srgbClr val="FF0000"/>
                </a:solidFill>
              </a:rPr>
              <a:t> Does Some Really Cool Stuff</a:t>
            </a:r>
          </a:p>
        </p:txBody>
      </p:sp>
      <p:sp>
        <p:nvSpPr>
          <p:cNvPr id="922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59EF1-CDC1-E308-4722-D075E3643146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Whether I order from my couch or step into a </a:t>
            </a:r>
            <a:r>
              <a:rPr lang="en-US" sz="2200" b="1" dirty="0" err="1"/>
              <a:t>MediaMarkt</a:t>
            </a:r>
            <a:r>
              <a:rPr lang="en-US" sz="2200" b="1" dirty="0"/>
              <a:t> store, I know help is part of the deal</a:t>
            </a:r>
          </a:p>
        </p:txBody>
      </p:sp>
      <p:pic>
        <p:nvPicPr>
          <p:cNvPr id="9218" name="Picture 2" descr="Coronavirus impact: MediaMarkt and Saturn close their stores in Bavaria (Photo: MediaMarktSaturn)">
            <a:extLst>
              <a:ext uri="{FF2B5EF4-FFF2-40B4-BE49-F238E27FC236}">
                <a16:creationId xmlns:a16="http://schemas.microsoft.com/office/drawing/2014/main" id="{B7D47926-FF3C-62AC-9D91-86595E529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391" y="3031236"/>
            <a:ext cx="5794737" cy="304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4F0727-2409-4C41-51C7-6FFD8A488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73900"/>
              </p:ext>
            </p:extLst>
          </p:nvPr>
        </p:nvGraphicFramePr>
        <p:xfrm>
          <a:off x="6254496" y="3009648"/>
          <a:ext cx="5468113" cy="3310726"/>
        </p:xfrm>
        <a:graphic>
          <a:graphicData uri="http://schemas.openxmlformats.org/drawingml/2006/table">
            <a:tbl>
              <a:tblPr firstRow="1" bandRow="1"/>
              <a:tblGrid>
                <a:gridCol w="2295956">
                  <a:extLst>
                    <a:ext uri="{9D8B030D-6E8A-4147-A177-3AD203B41FA5}">
                      <a16:colId xmlns:a16="http://schemas.microsoft.com/office/drawing/2014/main" val="3111229585"/>
                    </a:ext>
                  </a:extLst>
                </a:gridCol>
                <a:gridCol w="3172157">
                  <a:extLst>
                    <a:ext uri="{9D8B030D-6E8A-4147-A177-3AD203B41FA5}">
                      <a16:colId xmlns:a16="http://schemas.microsoft.com/office/drawing/2014/main" val="3622442612"/>
                    </a:ext>
                  </a:extLst>
                </a:gridCol>
              </a:tblGrid>
              <a:tr h="3428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Capability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Description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566667"/>
                  </a:ext>
                </a:extLst>
              </a:tr>
              <a:tr h="67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Stores as local fulfilment hubs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MediaMarkt</a:t>
                      </a:r>
                      <a:r>
                        <a:rPr lang="en-IN" sz="1200" dirty="0"/>
                        <a:t> uses its </a:t>
                      </a:r>
                      <a:r>
                        <a:rPr lang="en-IN" sz="1200" b="1" dirty="0"/>
                        <a:t>nationwide store network</a:t>
                      </a:r>
                      <a:r>
                        <a:rPr lang="en-IN" sz="1200" dirty="0"/>
                        <a:t> to enable fast pickup and local delivery when products are in stock.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905255"/>
                  </a:ext>
                </a:extLst>
              </a:tr>
              <a:tr h="718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Delivery shorter than Lord of the rings?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 many locations, available products can be delivered the same day, often within about </a:t>
                      </a:r>
                      <a:r>
                        <a:rPr lang="en-IN" sz="1200" b="1" dirty="0"/>
                        <a:t>90 minutes</a:t>
                      </a:r>
                      <a:r>
                        <a:rPr lang="en-IN" sz="1200" dirty="0"/>
                        <a:t>, during store hours.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755606"/>
                  </a:ext>
                </a:extLst>
              </a:tr>
              <a:tr h="67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Flexible buying, one system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Customers can </a:t>
                      </a:r>
                      <a:r>
                        <a:rPr lang="en-IN" sz="1200" b="1" dirty="0"/>
                        <a:t>buy online or in store</a:t>
                      </a:r>
                      <a:r>
                        <a:rPr lang="en-IN" sz="1200" dirty="0"/>
                        <a:t>, pick up quickly, return in store, or switch channels without friction.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152235"/>
                  </a:ext>
                </a:extLst>
              </a:tr>
              <a:tr h="679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Service beyond the sale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Stores support setup, </a:t>
                      </a:r>
                      <a:r>
                        <a:rPr lang="en-IN" sz="1200" b="1" dirty="0"/>
                        <a:t>0% financing on select products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="1" dirty="0"/>
                        <a:t>repairs</a:t>
                      </a:r>
                      <a:r>
                        <a:rPr lang="en-IN" sz="1200" dirty="0"/>
                        <a:t>, returns, and advice, turning one-time purchases into ongoing support.</a:t>
                      </a:r>
                    </a:p>
                  </a:txBody>
                  <a:tcPr marL="245032" marR="245032" marT="36439" marB="36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714175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2CEBC-7DB3-7D3A-71D9-7E6AB553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946561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9E022-0485-847D-5DF4-D42AF50F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400" dirty="0">
                <a:solidFill>
                  <a:srgbClr val="EE0814"/>
                </a:solidFill>
              </a:rPr>
              <a:t>Brand Insight: A “Good Deal” Goes Beyond Price</a:t>
            </a:r>
          </a:p>
        </p:txBody>
      </p:sp>
      <p:sp>
        <p:nvSpPr>
          <p:cNvPr id="1024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71A78-7C2F-04A1-0305-15B25BF4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1700" b="1"/>
              <a:t>As MediaMarkt defines itself in its own brand identity, it aims to be a partner and guide that helps people navigate and understand technology in an increasingly complex world.</a:t>
            </a:r>
          </a:p>
          <a:p>
            <a:pPr marL="0" indent="0">
              <a:buNone/>
            </a:pPr>
            <a:br>
              <a:rPr lang="en-IN" sz="1700"/>
            </a:br>
            <a:r>
              <a:rPr lang="en-IN" sz="1700"/>
              <a:t>In practice, this means MediaMarkt ties together what the market demands and what consumer-electronics buyers actually want by combining competitive availability and speed with human guidance, service, and ongoing support that extends well beyond the moment of purchase.</a:t>
            </a:r>
            <a:endParaRPr lang="en-US" sz="1700"/>
          </a:p>
        </p:txBody>
      </p:sp>
      <p:pic>
        <p:nvPicPr>
          <p:cNvPr id="10242" name="Picture 2" descr="A red and black logo&#10;&#10;AI-generated content may be incorrect.">
            <a:extLst>
              <a:ext uri="{FF2B5EF4-FFF2-40B4-BE49-F238E27FC236}">
                <a16:creationId xmlns:a16="http://schemas.microsoft.com/office/drawing/2014/main" id="{2C5EA2A7-5F84-3337-29E8-A10804560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59A69-4E5B-99EF-2C84-AAF89D69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2922866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BB6A8-B205-050A-65CF-7D86E5FD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E0814"/>
                </a:solidFill>
              </a:rPr>
              <a:t>Tying It All Together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55AB1-076C-2891-08D3-57C7E26B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Yatan Upadhyaya | Saatchi &amp; Saatchi</a:t>
            </a:r>
          </a:p>
        </p:txBody>
      </p:sp>
      <p:graphicFrame>
        <p:nvGraphicFramePr>
          <p:cNvPr id="17" name="Content Placeholder 7">
            <a:extLst>
              <a:ext uri="{FF2B5EF4-FFF2-40B4-BE49-F238E27FC236}">
                <a16:creationId xmlns:a16="http://schemas.microsoft.com/office/drawing/2014/main" id="{51C50F4D-4FA0-D6B6-DC48-5704E51747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90714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168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9FD9F-92BE-745F-1B50-CD86873C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EE0814"/>
                </a:solidFill>
              </a:rPr>
              <a:t>Strategic Recommendation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EBDB4-2E67-15F9-5E0D-34814AD3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 dirty="0"/>
              <a:t>Position </a:t>
            </a:r>
            <a:r>
              <a:rPr lang="en-IN" sz="2200" b="1" dirty="0" err="1">
                <a:solidFill>
                  <a:srgbClr val="EE0814"/>
                </a:solidFill>
              </a:rPr>
              <a:t>MediaMarkt</a:t>
            </a:r>
            <a:r>
              <a:rPr lang="en-IN" sz="2200" dirty="0"/>
              <a:t> as the place where a purchase marks the start of a long-term relationship, combining competitive deals with expert guidance, flexible buying online or in store, and support, repairs, and service that last well beyond checkout</a:t>
            </a: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C9D03-55BF-4CCD-1070-68BC30E5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Yatan Upadhyaya | Saatchi &amp; Saatchi</a:t>
            </a:r>
          </a:p>
        </p:txBody>
      </p:sp>
    </p:spTree>
    <p:extLst>
      <p:ext uri="{BB962C8B-B14F-4D97-AF65-F5344CB8AC3E}">
        <p14:creationId xmlns:p14="http://schemas.microsoft.com/office/powerpoint/2010/main" val="75289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F2E9C-B391-6C45-B8BE-807E66AC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rgbClr val="EE0814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sX0" fmla="*/ 0 w 3647661"/>
              <a:gd name="csY0" fmla="*/ 0 h 4436126"/>
              <a:gd name="csX1" fmla="*/ 498514 w 3647661"/>
              <a:gd name="csY1" fmla="*/ 0 h 4436126"/>
              <a:gd name="csX2" fmla="*/ 1069981 w 3647661"/>
              <a:gd name="csY2" fmla="*/ 0 h 4436126"/>
              <a:gd name="csX3" fmla="*/ 1714401 w 3647661"/>
              <a:gd name="csY3" fmla="*/ 0 h 4436126"/>
              <a:gd name="csX4" fmla="*/ 2285868 w 3647661"/>
              <a:gd name="csY4" fmla="*/ 0 h 4436126"/>
              <a:gd name="csX5" fmla="*/ 2784381 w 3647661"/>
              <a:gd name="csY5" fmla="*/ 0 h 4436126"/>
              <a:gd name="csX6" fmla="*/ 3647661 w 3647661"/>
              <a:gd name="csY6" fmla="*/ 0 h 4436126"/>
              <a:gd name="csX7" fmla="*/ 3647661 w 3647661"/>
              <a:gd name="csY7" fmla="*/ 633732 h 4436126"/>
              <a:gd name="csX8" fmla="*/ 3647661 w 3647661"/>
              <a:gd name="csY8" fmla="*/ 1267465 h 4436126"/>
              <a:gd name="csX9" fmla="*/ 3647661 w 3647661"/>
              <a:gd name="csY9" fmla="*/ 1768113 h 4436126"/>
              <a:gd name="csX10" fmla="*/ 3647661 w 3647661"/>
              <a:gd name="csY10" fmla="*/ 2446207 h 4436126"/>
              <a:gd name="csX11" fmla="*/ 3647661 w 3647661"/>
              <a:gd name="csY11" fmla="*/ 2946855 h 4436126"/>
              <a:gd name="csX12" fmla="*/ 3647661 w 3647661"/>
              <a:gd name="csY12" fmla="*/ 3580587 h 4436126"/>
              <a:gd name="csX13" fmla="*/ 3647661 w 3647661"/>
              <a:gd name="csY13" fmla="*/ 4436126 h 4436126"/>
              <a:gd name="csX14" fmla="*/ 3039718 w 3647661"/>
              <a:gd name="csY14" fmla="*/ 4436126 h 4436126"/>
              <a:gd name="csX15" fmla="*/ 2431774 w 3647661"/>
              <a:gd name="csY15" fmla="*/ 4436126 h 4436126"/>
              <a:gd name="csX16" fmla="*/ 1823831 w 3647661"/>
              <a:gd name="csY16" fmla="*/ 4436126 h 4436126"/>
              <a:gd name="csX17" fmla="*/ 1288840 w 3647661"/>
              <a:gd name="csY17" fmla="*/ 4436126 h 4436126"/>
              <a:gd name="csX18" fmla="*/ 607943 w 3647661"/>
              <a:gd name="csY18" fmla="*/ 4436126 h 4436126"/>
              <a:gd name="csX19" fmla="*/ 0 w 3647661"/>
              <a:gd name="csY19" fmla="*/ 4436126 h 4436126"/>
              <a:gd name="csX20" fmla="*/ 0 w 3647661"/>
              <a:gd name="csY20" fmla="*/ 3758032 h 4436126"/>
              <a:gd name="csX21" fmla="*/ 0 w 3647661"/>
              <a:gd name="csY21" fmla="*/ 3035578 h 4436126"/>
              <a:gd name="csX22" fmla="*/ 0 w 3647661"/>
              <a:gd name="csY22" fmla="*/ 2401845 h 4436126"/>
              <a:gd name="csX23" fmla="*/ 0 w 3647661"/>
              <a:gd name="csY23" fmla="*/ 1768113 h 4436126"/>
              <a:gd name="csX24" fmla="*/ 0 w 3647661"/>
              <a:gd name="csY24" fmla="*/ 1178742 h 4436126"/>
              <a:gd name="csX25" fmla="*/ 0 w 3647661"/>
              <a:gd name="csY25" fmla="*/ 589371 h 4436126"/>
              <a:gd name="csX26" fmla="*/ 0 w 3647661"/>
              <a:gd name="csY26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sX0" fmla="*/ 0 w 6281928"/>
              <a:gd name="csY0" fmla="*/ 0 h 18288"/>
              <a:gd name="csX1" fmla="*/ 572353 w 6281928"/>
              <a:gd name="csY1" fmla="*/ 0 h 18288"/>
              <a:gd name="csX2" fmla="*/ 1207526 w 6281928"/>
              <a:gd name="csY2" fmla="*/ 0 h 18288"/>
              <a:gd name="csX3" fmla="*/ 1779880 w 6281928"/>
              <a:gd name="csY3" fmla="*/ 0 h 18288"/>
              <a:gd name="csX4" fmla="*/ 2540691 w 6281928"/>
              <a:gd name="csY4" fmla="*/ 0 h 18288"/>
              <a:gd name="csX5" fmla="*/ 3238683 w 6281928"/>
              <a:gd name="csY5" fmla="*/ 0 h 18288"/>
              <a:gd name="csX6" fmla="*/ 3936675 w 6281928"/>
              <a:gd name="csY6" fmla="*/ 0 h 18288"/>
              <a:gd name="csX7" fmla="*/ 4760305 w 6281928"/>
              <a:gd name="csY7" fmla="*/ 0 h 18288"/>
              <a:gd name="csX8" fmla="*/ 5521117 w 6281928"/>
              <a:gd name="csY8" fmla="*/ 0 h 18288"/>
              <a:gd name="csX9" fmla="*/ 6281928 w 6281928"/>
              <a:gd name="csY9" fmla="*/ 0 h 18288"/>
              <a:gd name="csX10" fmla="*/ 6281928 w 6281928"/>
              <a:gd name="csY10" fmla="*/ 18288 h 18288"/>
              <a:gd name="csX11" fmla="*/ 5772394 w 6281928"/>
              <a:gd name="csY11" fmla="*/ 18288 h 18288"/>
              <a:gd name="csX12" fmla="*/ 5200040 w 6281928"/>
              <a:gd name="csY12" fmla="*/ 18288 h 18288"/>
              <a:gd name="csX13" fmla="*/ 4439229 w 6281928"/>
              <a:gd name="csY13" fmla="*/ 18288 h 18288"/>
              <a:gd name="csX14" fmla="*/ 3615599 w 6281928"/>
              <a:gd name="csY14" fmla="*/ 18288 h 18288"/>
              <a:gd name="csX15" fmla="*/ 2980426 w 6281928"/>
              <a:gd name="csY15" fmla="*/ 18288 h 18288"/>
              <a:gd name="csX16" fmla="*/ 2156795 w 6281928"/>
              <a:gd name="csY16" fmla="*/ 18288 h 18288"/>
              <a:gd name="csX17" fmla="*/ 1584442 w 6281928"/>
              <a:gd name="csY17" fmla="*/ 18288 h 18288"/>
              <a:gd name="csX18" fmla="*/ 1074908 w 6281928"/>
              <a:gd name="csY18" fmla="*/ 18288 h 18288"/>
              <a:gd name="csX19" fmla="*/ 0 w 6281928"/>
              <a:gd name="csY19" fmla="*/ 18288 h 18288"/>
              <a:gd name="csX20" fmla="*/ 0 w 6281928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09747A-71C1-8869-51DF-1D91838F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Yatan Upadhyaya | Saatchi &amp; Saatchi</a:t>
            </a:r>
          </a:p>
        </p:txBody>
      </p:sp>
      <p:pic>
        <p:nvPicPr>
          <p:cNvPr id="5" name="Picture 2" descr="Media Markt Logo PNG Vector">
            <a:extLst>
              <a:ext uri="{FF2B5EF4-FFF2-40B4-BE49-F238E27FC236}">
                <a16:creationId xmlns:a16="http://schemas.microsoft.com/office/drawing/2014/main" id="{0BD16DBA-7A39-F436-0BFF-526EC32BF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5656" y="539089"/>
            <a:ext cx="5287627" cy="528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36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2263</Words>
  <Application>Microsoft Macintosh PowerPoint</Application>
  <PresentationFormat>Widescreen</PresentationFormat>
  <Paragraphs>274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Winning Black November</vt:lpstr>
      <vt:lpstr>My Approach: The 10,000 Foot View</vt:lpstr>
      <vt:lpstr>Market and Category</vt:lpstr>
      <vt:lpstr>Market and Category</vt:lpstr>
      <vt:lpstr>The Consumer Electronics Market in Germany</vt:lpstr>
      <vt:lpstr>Price Competetion: MediaMarkt vs Amazon</vt:lpstr>
      <vt:lpstr>The Message Landscape</vt:lpstr>
      <vt:lpstr>Market Insight: The White Space</vt:lpstr>
      <vt:lpstr>Consumer</vt:lpstr>
      <vt:lpstr>Consumer Behaviour</vt:lpstr>
      <vt:lpstr>Consumer Demographics</vt:lpstr>
      <vt:lpstr>Social Listening Analysis | Documentation</vt:lpstr>
      <vt:lpstr>What Matters To The Customers?</vt:lpstr>
      <vt:lpstr>How Strongly Do They Feel About It?</vt:lpstr>
      <vt:lpstr>Consumer Insight: Value Beyond “Price”</vt:lpstr>
      <vt:lpstr>Brand</vt:lpstr>
      <vt:lpstr>Brand Comparison: MediaMarkt vs Amazon</vt:lpstr>
      <vt:lpstr>What Distinguishes MediaMarkt</vt:lpstr>
      <vt:lpstr>MediaMarkt Does Some Really Cool Stuff</vt:lpstr>
      <vt:lpstr>Brand Insight: A “Good Deal” Goes Beyond Price</vt:lpstr>
      <vt:lpstr>Tying It All Together</vt:lpstr>
      <vt:lpstr>Strategic 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Yatan Upadhyaya</dc:creator>
  <cp:lastModifiedBy>Yatan Upadhyaya</cp:lastModifiedBy>
  <cp:revision>3</cp:revision>
  <dcterms:created xsi:type="dcterms:W3CDTF">2026-02-04T14:15:51Z</dcterms:created>
  <dcterms:modified xsi:type="dcterms:W3CDTF">2026-02-05T09:01:58Z</dcterms:modified>
</cp:coreProperties>
</file>